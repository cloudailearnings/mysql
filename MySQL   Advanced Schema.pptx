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B845-7975-DE42-679A-8CBDEBE23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31D41-6A1C-6F72-5C4B-F6939BE01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E34EA-0B9E-1203-9713-6AA1403C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773F3-70AB-9E66-69F8-3828A2CAE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93916-A392-189D-22DC-E83F3B4AA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95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9BD3-0CD3-5061-1833-ED08FA2C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EBA7E-0684-6BE7-A747-A03E7805E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EC80-BCE2-1BE6-2B75-0F9365B3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EDD8C-F6A0-D105-F06E-61233CFB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A0B05-7A13-D2E1-AFBB-1D2336665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72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57612-F6D9-A1F4-23B0-F2E87428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FDB05-679C-AAB5-7AAB-FBAD07CDF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34E7E-6FA3-FC29-B153-2F1CB0D0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2BF05-DE53-6B32-3A4E-54632F25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8C7B1-8ED4-379A-1379-449CDF64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31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11CD-36E4-6D5B-DCA2-CC6ED9E9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A9BC-A9C6-B1AD-A01A-5C102D7A5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373A4-A4D8-CEFC-2985-AB1D77314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B7B36-E51A-17E3-AA18-D7986B11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DB575-AC71-6A20-B992-78F0949D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4BF72-FDFA-7F81-FFA4-CD2B690A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39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7A8A-BD15-6FE8-75AE-DF3103B7A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E7C36-49CD-5925-73C2-92ECA3D5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A0125-A8B5-FA80-E5E2-EA011F997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8644B-308D-97E7-442E-24F71AB66A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501FC-A278-1D0F-50F1-35EDA4BCB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10895-3D56-79BB-ED9D-21938AB1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6A83D-AE2B-DED2-5BC7-CA2C7F49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07053-BF34-9413-E796-743AEA7F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9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2625-B125-ED2A-DCB8-C16897EE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804EC-3E12-A5E1-F69E-C84C654B4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72F2C-2CD5-BAAF-6AFE-2F865EC6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6ACB2-41DE-CB05-8FAE-4AFD2DB0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00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FCE5F-CC83-219F-062D-8E7722FE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876D65-257B-B137-21E1-CD0139C8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0EB58-2873-12F6-3942-5FDD6454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02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3E9D-5BBE-2635-B192-1BE5C383E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9975-871A-B39B-F0A6-D6BBFC636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CAEAD-5506-8C2E-5AF6-AB40D8151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2A113-3AF8-D163-9B25-63692DD4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0E46F-5F7A-E06B-4190-9C43F583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82264-5CF7-DEE3-B9D2-19D43EAF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B8BF-8F84-8BE9-BABF-CA591132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8B1504-E458-CFAF-B54A-6C14B41E8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7C0F6-D690-9C73-BA48-C6846DB06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70B26-622E-F89A-6AB6-7BAFA68D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F6BBA-F4B6-43D5-A86A-78207366A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B9C52-D8B3-4946-B4D4-017863E9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5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DD7F-F5DC-0F5B-42DE-C70755C4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1707C-E862-BD7F-974D-E9971E7C7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F7417-EEBB-4E83-422F-B7969F9C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47C6B-F2AC-CB6B-F51D-5D132C16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2F584-A6CC-5D39-1F5D-B814DB78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39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3C3AE-B7CC-38AD-94C8-4C56F9EF9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3D96F-4B38-C919-3487-5719D5935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2B90F-66B2-EF7D-76E1-AACE0BB9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7642-9B35-4AA3-535A-19E17C60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C4960-9E1C-7EA7-454A-DAE0ECB7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36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385C42-41A3-9DC1-D3A9-123E951F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0CBF9-8EA8-00E3-FAA2-7D7E67452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5280C-F0D5-9F9C-46B8-34512197D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10CCF-62DD-457B-9400-C0414E0DB1E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50BA-88B2-5CC7-C41F-59FB4ADF63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141DF-D37C-5223-7069-E095DEF35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4C5B4-D22F-421E-92B1-31487997D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58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A6E5-20DE-E8F0-E9A0-710D15180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MySQL Advanced Schema</a:t>
            </a:r>
          </a:p>
        </p:txBody>
      </p:sp>
    </p:spTree>
    <p:extLst>
      <p:ext uri="{BB962C8B-B14F-4D97-AF65-F5344CB8AC3E}">
        <p14:creationId xmlns:p14="http://schemas.microsoft.com/office/powerpoint/2010/main" val="2026426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4A7B-9ACD-50BD-0213-1F33C046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873" y="18256"/>
            <a:ext cx="10515600" cy="771454"/>
          </a:xfrm>
        </p:spPr>
        <p:txBody>
          <a:bodyPr/>
          <a:lstStyle/>
          <a:p>
            <a:r>
              <a:rPr lang="en-US" dirty="0"/>
              <a:t>🧩 </a:t>
            </a:r>
            <a:r>
              <a:rPr lang="en-US" b="1" dirty="0"/>
              <a:t>What Is an Advanced Schema?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DD7C-F317-46DF-6DBF-4F81D2362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7" y="1461943"/>
            <a:ext cx="11350337" cy="435133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advanced MySQL schema</a:t>
            </a:r>
            <a:r>
              <a:rPr lang="en-US" dirty="0"/>
              <a:t> goes beyond just creating tables.</a:t>
            </a:r>
            <a:br>
              <a:rPr lang="en-US" dirty="0"/>
            </a:br>
            <a:r>
              <a:rPr lang="en-US" dirty="0"/>
              <a:t>It focuses on </a:t>
            </a:r>
            <a:r>
              <a:rPr lang="en-US" b="1" dirty="0"/>
              <a:t>relationships, normalization, constraints, indexing, and performance</a:t>
            </a:r>
            <a:r>
              <a:rPr lang="en-US" dirty="0"/>
              <a:t> — ensuring the database is both </a:t>
            </a:r>
            <a:r>
              <a:rPr lang="en-US" b="1" dirty="0"/>
              <a:t>efficient and scalable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8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55FC-2B98-377A-78C0-B025B43CD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64" y="18255"/>
            <a:ext cx="10515600" cy="802627"/>
          </a:xfrm>
        </p:spPr>
        <p:txBody>
          <a:bodyPr/>
          <a:lstStyle/>
          <a:p>
            <a:r>
              <a:rPr lang="en-US" dirty="0"/>
              <a:t>🔑 </a:t>
            </a:r>
            <a:r>
              <a:rPr lang="en-US" b="1" dirty="0"/>
              <a:t>What is a Primary Key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88836-1ADA-6112-53E2-7241899DA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1" y="1358035"/>
            <a:ext cx="11662063" cy="548171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is a </a:t>
            </a:r>
            <a:r>
              <a:rPr lang="en-US" b="1" dirty="0"/>
              <a:t>column (or group of columns)</a:t>
            </a:r>
            <a:r>
              <a:rPr lang="en-US" dirty="0"/>
              <a:t> that </a:t>
            </a:r>
            <a:r>
              <a:rPr lang="en-US" b="1" dirty="0"/>
              <a:t>uniquely identifies each record (row)</a:t>
            </a:r>
            <a:r>
              <a:rPr lang="en-US" dirty="0"/>
              <a:t> in a table.</a:t>
            </a:r>
            <a:br>
              <a:rPr lang="en-US" dirty="0"/>
            </a:br>
            <a:r>
              <a:rPr lang="en-US" dirty="0"/>
              <a:t>It ensures </a:t>
            </a:r>
            <a:r>
              <a:rPr lang="en-US" b="1" dirty="0"/>
              <a:t>no two rows have the same key value</a:t>
            </a:r>
            <a:r>
              <a:rPr lang="en-US" dirty="0"/>
              <a:t> and that the key column is </a:t>
            </a:r>
            <a:r>
              <a:rPr lang="en-US" b="1" dirty="0"/>
              <a:t>never NULL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uniquely identifies every record in a table —</a:t>
            </a:r>
            <a:br>
              <a:rPr lang="en-US" dirty="0"/>
            </a:br>
            <a:r>
              <a:rPr lang="en-US" dirty="0"/>
              <a:t>just like your </a:t>
            </a:r>
            <a:r>
              <a:rPr lang="en-US" b="1" dirty="0"/>
              <a:t>Aadhaar number</a:t>
            </a:r>
            <a:r>
              <a:rPr lang="en-US" dirty="0"/>
              <a:t>, </a:t>
            </a:r>
            <a:r>
              <a:rPr lang="en-US" b="1" dirty="0"/>
              <a:t>roll number</a:t>
            </a:r>
            <a:r>
              <a:rPr lang="en-US" dirty="0"/>
              <a:t>, or </a:t>
            </a:r>
            <a:r>
              <a:rPr lang="en-US" b="1" dirty="0"/>
              <a:t>employee ID</a:t>
            </a:r>
            <a:r>
              <a:rPr lang="en-US" dirty="0"/>
              <a:t> uniquely identifies you.</a:t>
            </a:r>
          </a:p>
          <a:p>
            <a:endParaRPr lang="en-US" dirty="0"/>
          </a:p>
          <a:p>
            <a:r>
              <a:rPr lang="en-US" dirty="0"/>
              <a:t>🧱 </a:t>
            </a:r>
            <a:r>
              <a:rPr lang="en-US" b="1" dirty="0"/>
              <a:t>Key Rules for a Primary Key:</a:t>
            </a:r>
          </a:p>
          <a:p>
            <a:endParaRPr lang="en-US" b="1" dirty="0"/>
          </a:p>
          <a:p>
            <a:r>
              <a:rPr lang="en-US" b="1" dirty="0"/>
              <a:t>✅ Unique — No duplicate values allowed</a:t>
            </a:r>
          </a:p>
          <a:p>
            <a:endParaRPr lang="en-US" b="1" dirty="0"/>
          </a:p>
          <a:p>
            <a:r>
              <a:rPr lang="en-US" b="1" dirty="0"/>
              <a:t>🚫 Not NULL — Every record must have a value</a:t>
            </a:r>
          </a:p>
          <a:p>
            <a:endParaRPr lang="en-US" b="1" dirty="0"/>
          </a:p>
          <a:p>
            <a:r>
              <a:rPr lang="en-US" b="1" dirty="0"/>
              <a:t>🆔 One per table — Each table can have only one primary key</a:t>
            </a:r>
          </a:p>
          <a:p>
            <a:endParaRPr lang="en-US" b="1" dirty="0"/>
          </a:p>
          <a:p>
            <a:r>
              <a:rPr lang="en-US" b="1" dirty="0"/>
              <a:t>🧩 Can be composite — It can consist of multiple columns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378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1467-FA0D-A158-379E-B7C9490B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1" y="18256"/>
            <a:ext cx="10515600" cy="750672"/>
          </a:xfrm>
        </p:spPr>
        <p:txBody>
          <a:bodyPr/>
          <a:lstStyle/>
          <a:p>
            <a:r>
              <a:rPr lang="en-US" b="1" dirty="0"/>
              <a:t>Example 1: Single Column Primary Key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7EEC-7384-943D-85D9-1202E51C5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</a:t>
            </a:r>
            <a:r>
              <a:rPr lang="en-US" b="1" dirty="0"/>
              <a:t>PRIMARY KEY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class INT,</a:t>
            </a:r>
          </a:p>
          <a:p>
            <a:pPr marL="0" indent="0">
              <a:buNone/>
            </a:pPr>
            <a:r>
              <a:rPr lang="en-US" dirty="0"/>
              <a:t>    marks INT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208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37BE-94AC-C5EC-BEC2-05E1F93BA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7" y="18255"/>
            <a:ext cx="12043064" cy="1325563"/>
          </a:xfrm>
        </p:spPr>
        <p:txBody>
          <a:bodyPr/>
          <a:lstStyle/>
          <a:p>
            <a:r>
              <a:rPr lang="en-US" b="1" dirty="0"/>
              <a:t>Example 2: Composite Primary Key (Multiple Columns)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A73D-2A99-180B-CD33-9DB048C27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single column isn’t enough to make a record unique.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Enrollment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enrollment_date</a:t>
            </a:r>
            <a:r>
              <a:rPr lang="en-US" dirty="0"/>
              <a:t> DATE,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758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B440-5E92-4D1B-3F49-1C27ABC7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Adding Primary Key Later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8FA0-793D-EF40-AF2B-73FE89A08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TABLE Employees</a:t>
            </a:r>
          </a:p>
          <a:p>
            <a:r>
              <a:rPr lang="en-US" dirty="0"/>
              <a:t>ADD CONSTRAINT </a:t>
            </a:r>
            <a:r>
              <a:rPr lang="en-US" dirty="0" err="1"/>
              <a:t>pk_emp_id</a:t>
            </a:r>
            <a:r>
              <a:rPr lang="en-US" dirty="0"/>
              <a:t> PRIMARY KEY (</a:t>
            </a:r>
            <a:r>
              <a:rPr lang="en-US" dirty="0" err="1"/>
              <a:t>emp_id</a:t>
            </a:r>
            <a:r>
              <a:rPr lang="en-US" dirty="0"/>
              <a:t>);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D58AC-D90A-A7D9-7CA8-E34BA9EDF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95" y="3210322"/>
            <a:ext cx="8016935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6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B37C-03D8-437F-4FFE-8E21E92EB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482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🌐 </a:t>
            </a:r>
            <a:r>
              <a:rPr lang="en-US" b="1" dirty="0"/>
              <a:t>Foreign Key in MySQL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3F8F-FBE4-79B0-249D-0093FAC2C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227" y="1253331"/>
            <a:ext cx="1196339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Foreign Key (FK)</a:t>
            </a:r>
            <a:r>
              <a:rPr lang="en-US" dirty="0"/>
              <a:t> is used to </a:t>
            </a:r>
            <a:r>
              <a:rPr lang="en-US" b="1" dirty="0"/>
              <a:t>link two tables</a:t>
            </a:r>
            <a:r>
              <a:rPr lang="en-US" dirty="0"/>
              <a:t> together — it creates a </a:t>
            </a:r>
            <a:r>
              <a:rPr lang="en-US" b="1" dirty="0"/>
              <a:t>relationship</a:t>
            </a:r>
            <a:r>
              <a:rPr lang="en-US" dirty="0"/>
              <a:t> between the data.</a:t>
            </a:r>
            <a:br>
              <a:rPr lang="en-US" dirty="0"/>
            </a:br>
            <a:r>
              <a:rPr lang="en-US" dirty="0"/>
              <a:t>It ensures </a:t>
            </a:r>
            <a:r>
              <a:rPr lang="en-US" b="1" dirty="0"/>
              <a:t>referential integrity</a:t>
            </a:r>
            <a:r>
              <a:rPr lang="en-US" dirty="0"/>
              <a:t>, meaning the relationship between tables stays valid.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Foreign Key</a:t>
            </a:r>
            <a:r>
              <a:rPr lang="en-US" dirty="0"/>
              <a:t> is a column (or set of columns) in one table that </a:t>
            </a:r>
            <a:r>
              <a:rPr lang="en-US" b="1" dirty="0"/>
              <a:t>references the Primary Key</a:t>
            </a:r>
            <a:r>
              <a:rPr lang="en-US" dirty="0"/>
              <a:t> of another table.</a:t>
            </a:r>
          </a:p>
          <a:p>
            <a:r>
              <a:rPr lang="en-US" dirty="0"/>
              <a:t>👉 It ensures that the value in the child table </a:t>
            </a:r>
            <a:r>
              <a:rPr lang="en-US" b="1" dirty="0"/>
              <a:t>must exist</a:t>
            </a:r>
            <a:r>
              <a:rPr lang="en-US" dirty="0"/>
              <a:t> in the parent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Students has a </a:t>
            </a:r>
            <a:r>
              <a:rPr lang="en-US" dirty="0" err="1"/>
              <a:t>student_id</a:t>
            </a:r>
            <a:r>
              <a:rPr lang="en-US" dirty="0"/>
              <a:t> and Marks stores student marks,</a:t>
            </a:r>
            <a:br>
              <a:rPr lang="en-US" dirty="0"/>
            </a:br>
            <a:r>
              <a:rPr lang="en-US" dirty="0"/>
              <a:t>then </a:t>
            </a:r>
            <a:r>
              <a:rPr lang="en-US" dirty="0" err="1"/>
              <a:t>Marks.student_id</a:t>
            </a:r>
            <a:r>
              <a:rPr lang="en-US" dirty="0"/>
              <a:t> → references </a:t>
            </a:r>
            <a:r>
              <a:rPr lang="en-US" dirty="0" err="1"/>
              <a:t>Students.student_id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94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1BEA-BFB8-AFDE-4472-9F834739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573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Student–MARKS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DFA37-8AAD-3923-F58C-352A2538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17" y="1067088"/>
            <a:ext cx="11596255" cy="577265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Parent Table: students</a:t>
            </a:r>
          </a:p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class INT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Child Table: marks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US" b="1" dirty="0"/>
              <a:t>CREATE TABLE marks (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b="1" dirty="0" err="1"/>
              <a:t>mark_id</a:t>
            </a:r>
            <a:r>
              <a:rPr lang="en-US" b="1" dirty="0"/>
              <a:t> INT PRIMARY KEY,</a:t>
            </a:r>
          </a:p>
          <a:p>
            <a:pPr marL="0" indent="0">
              <a:buNone/>
            </a:pPr>
            <a:r>
              <a:rPr lang="en-US" b="1" dirty="0"/>
              <a:t>    </a:t>
            </a:r>
            <a:r>
              <a:rPr lang="en-US" b="1" dirty="0" err="1"/>
              <a:t>student_id</a:t>
            </a:r>
            <a:r>
              <a:rPr lang="en-US" b="1" dirty="0"/>
              <a:t> INT,</a:t>
            </a:r>
          </a:p>
          <a:p>
            <a:pPr marL="0" indent="0">
              <a:buNone/>
            </a:pPr>
            <a:r>
              <a:rPr lang="en-US" b="1" dirty="0"/>
              <a:t>    subject VARCHAR(50),</a:t>
            </a:r>
          </a:p>
          <a:p>
            <a:pPr marL="0" indent="0">
              <a:buNone/>
            </a:pPr>
            <a:r>
              <a:rPr lang="en-US" b="1" dirty="0"/>
              <a:t>    marks INT,</a:t>
            </a:r>
          </a:p>
          <a:p>
            <a:pPr marL="0" indent="0">
              <a:buNone/>
            </a:pPr>
            <a:r>
              <a:rPr lang="en-US" b="1" dirty="0"/>
              <a:t>    FOREIGN KEY (</a:t>
            </a:r>
            <a:r>
              <a:rPr lang="en-US" b="1" dirty="0" err="1"/>
              <a:t>student_id</a:t>
            </a:r>
            <a:r>
              <a:rPr lang="en-US" b="1" dirty="0"/>
              <a:t>) REFERENCES students(</a:t>
            </a:r>
            <a:r>
              <a:rPr lang="en-US" b="1" dirty="0" err="1"/>
              <a:t>student_id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);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02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71E0-AA3E-A93B-F8E8-AF46D147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4️⃣ Referential Integrity Rules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EB993-FBEF-6E35-953F-11D3C3063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373" y="1724892"/>
            <a:ext cx="11346871" cy="426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91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7C7D-316F-4401-3A95-3D5E659E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781" y="18256"/>
            <a:ext cx="10515600" cy="813018"/>
          </a:xfrm>
        </p:spPr>
        <p:txBody>
          <a:bodyPr/>
          <a:lstStyle/>
          <a:p>
            <a:r>
              <a:rPr lang="en-IN" dirty="0"/>
              <a:t>5️⃣ CASCADE Options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D1443-DD07-6782-8C3D-A4F52105A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9825"/>
            <a:ext cx="11907981" cy="4351338"/>
          </a:xfrm>
        </p:spPr>
        <p:txBody>
          <a:bodyPr/>
          <a:lstStyle/>
          <a:p>
            <a:r>
              <a:rPr lang="en-US" dirty="0"/>
              <a:t>can define </a:t>
            </a:r>
            <a:r>
              <a:rPr lang="en-US" b="1" dirty="0"/>
              <a:t>what happens automatically</a:t>
            </a:r>
            <a:r>
              <a:rPr lang="en-US" dirty="0"/>
              <a:t> when a parent record is deleted or updated.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88F39-949B-4FE8-5BBD-4212221C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36" y="2558504"/>
            <a:ext cx="11139055" cy="324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1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2B07-78E6-004A-8024-B9193E17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🧮 Example: Cascading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236EF-51E9-B83F-996A-500A38A99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CREATE TABLE orders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customer_id</a:t>
            </a:r>
            <a:r>
              <a:rPr lang="en-US" dirty="0"/>
              <a:t>) REFERENCES customers(</a:t>
            </a:r>
            <a:r>
              <a:rPr lang="en-US" dirty="0" err="1"/>
              <a:t>customer_id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ON DELETE CASCADE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If a customer is deleted → all their orders are automatically deleted.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79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F5FB-72BD-7864-E4FF-017E8E24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955" y="18255"/>
            <a:ext cx="10515600" cy="574027"/>
          </a:xfrm>
        </p:spPr>
        <p:txBody>
          <a:bodyPr>
            <a:normAutofit fontScale="90000"/>
          </a:bodyPr>
          <a:lstStyle/>
          <a:p>
            <a:r>
              <a:rPr lang="en-IN" dirty="0"/>
              <a:t>6️⃣ Composite 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EC74-96E2-CD4F-B77C-506656ED5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5" y="1347642"/>
            <a:ext cx="11866419" cy="55103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Can reference multiple columns together (when both are part of a composite primary key):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enrollment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attendance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date </a:t>
            </a:r>
            <a:r>
              <a:rPr lang="en-US" dirty="0" err="1"/>
              <a:t>DATE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 REFERENCES enrollment(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5340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A2DD-5C17-7A86-F152-6EC11F26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/>
              <a:t>Referential Integrity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0AF4-49FE-81FA-BACA-18EEB60BF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1925300" cy="4351338"/>
          </a:xfrm>
        </p:spPr>
        <p:txBody>
          <a:bodyPr/>
          <a:lstStyle/>
          <a:p>
            <a:r>
              <a:rPr lang="en-US" b="1" dirty="0"/>
              <a:t>Referential Integrity</a:t>
            </a:r>
            <a:r>
              <a:rPr lang="en-US" dirty="0"/>
              <a:t> ensures that </a:t>
            </a:r>
            <a:r>
              <a:rPr lang="en-US" b="1" dirty="0"/>
              <a:t>relationships between tables remain consistent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that is, </a:t>
            </a:r>
            <a:r>
              <a:rPr lang="en-US" b="1" dirty="0"/>
              <a:t>foreign keys in one table must always reference valid primary keys in another table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Referential Integrity</a:t>
            </a:r>
            <a:r>
              <a:rPr lang="en-US" dirty="0"/>
              <a:t> means that a </a:t>
            </a:r>
            <a:r>
              <a:rPr lang="en-US" b="1" dirty="0"/>
              <a:t>foreign key value must match an existing primary key value</a:t>
            </a:r>
            <a:r>
              <a:rPr lang="en-US" dirty="0"/>
              <a:t> in the parent table —</a:t>
            </a:r>
            <a:br>
              <a:rPr lang="en-US" dirty="0"/>
            </a:br>
            <a:r>
              <a:rPr lang="en-US" dirty="0"/>
              <a:t>or be </a:t>
            </a:r>
            <a:r>
              <a:rPr lang="en-US" b="1" dirty="0"/>
              <a:t>NULL</a:t>
            </a:r>
            <a:r>
              <a:rPr lang="en-US" dirty="0"/>
              <a:t> (if allowed).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8456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100C-DF40-36A5-2644-F568A40A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82" y="18255"/>
            <a:ext cx="11353800" cy="802627"/>
          </a:xfrm>
        </p:spPr>
        <p:txBody>
          <a:bodyPr/>
          <a:lstStyle/>
          <a:p>
            <a:r>
              <a:rPr lang="en-US" dirty="0"/>
              <a:t>Enforcing Referential Integrity Using Foreign Keys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2FB17-7C71-9AAC-DD6A-0AABCD75A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3" y="1347643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Marks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mark_id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marks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) REFERENCES Students(</a:t>
            </a:r>
            <a:r>
              <a:rPr lang="en-US" dirty="0" err="1"/>
              <a:t>student_id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MySQL will </a:t>
            </a:r>
            <a:r>
              <a:rPr lang="en-US" b="1" dirty="0"/>
              <a:t>not allow</a:t>
            </a:r>
            <a:r>
              <a:rPr lang="en-US" dirty="0"/>
              <a:t> inserting a record in Marks unless </a:t>
            </a:r>
            <a:r>
              <a:rPr lang="en-US" dirty="0" err="1"/>
              <a:t>student_id</a:t>
            </a:r>
            <a:r>
              <a:rPr lang="en-US" dirty="0"/>
              <a:t> exists in Students.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199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016B-3845-8EBE-CB2F-155FA534D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619" y="2766218"/>
            <a:ext cx="10515600" cy="1325563"/>
          </a:xfrm>
        </p:spPr>
        <p:txBody>
          <a:bodyPr/>
          <a:lstStyle/>
          <a:p>
            <a:r>
              <a:rPr lang="en-US" dirty="0"/>
              <a:t>🔑 </a:t>
            </a:r>
            <a:r>
              <a:rPr lang="en-US" b="1" dirty="0"/>
              <a:t>UNIQUE Key in MySQL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44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2244-5B98-740F-7B68-C4D470746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UNIQUE Key</a:t>
            </a:r>
            <a:r>
              <a:rPr lang="en-US" dirty="0"/>
              <a:t> ensures that </a:t>
            </a:r>
            <a:r>
              <a:rPr lang="en-US" b="1" dirty="0"/>
              <a:t>all values in a column (or group of columns) are unique</a:t>
            </a:r>
            <a:r>
              <a:rPr lang="en-US" dirty="0"/>
              <a:t> across rows —</a:t>
            </a:r>
            <a:br>
              <a:rPr lang="en-US" dirty="0"/>
            </a:br>
            <a:r>
              <a:rPr lang="en-US" b="1" dirty="0"/>
              <a:t>no duplicates are allowed</a:t>
            </a:r>
            <a:r>
              <a:rPr lang="en-US" dirty="0"/>
              <a:t>, but unlike a </a:t>
            </a:r>
            <a:r>
              <a:rPr lang="en-US" b="1" dirty="0"/>
              <a:t>Primary Key</a:t>
            </a:r>
            <a:r>
              <a:rPr lang="en-US" dirty="0"/>
              <a:t>, </a:t>
            </a:r>
            <a:r>
              <a:rPr lang="en-US" b="1" dirty="0"/>
              <a:t>NULL values are permitted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US" dirty="0"/>
              <a:t>A </a:t>
            </a:r>
            <a:r>
              <a:rPr lang="en-US" b="1" dirty="0"/>
              <a:t>UNIQUE key</a:t>
            </a:r>
            <a:r>
              <a:rPr lang="en-US" dirty="0"/>
              <a:t> constraint ensures that the value in a column or a combination of columns </a:t>
            </a:r>
            <a:r>
              <a:rPr lang="en-US" b="1" dirty="0"/>
              <a:t>is not repeated</a:t>
            </a:r>
            <a:r>
              <a:rPr lang="en-US" dirty="0"/>
              <a:t> in any other row of the same table.</a:t>
            </a:r>
          </a:p>
          <a:p>
            <a:r>
              <a:rPr lang="en-US" dirty="0"/>
              <a:t>It helps maintain </a:t>
            </a:r>
            <a:r>
              <a:rPr lang="en-US" b="1" dirty="0"/>
              <a:t>data integrity</a:t>
            </a:r>
            <a:r>
              <a:rPr lang="en-US" dirty="0"/>
              <a:t> and </a:t>
            </a:r>
            <a:r>
              <a:rPr lang="en-US" b="1" dirty="0"/>
              <a:t>prevents duplication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177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EA58-DA5C-2EB8-FDCE-A6B9A82B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A1461-97C7-4625-0530-FDA598035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email VARCHAR(100) </a:t>
            </a:r>
            <a:r>
              <a:rPr lang="en-US" b="1" dirty="0">
                <a:highlight>
                  <a:srgbClr val="FFFF00"/>
                </a:highlight>
              </a:rPr>
              <a:t>UNIQUE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phone VARCHAR(15)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1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FD68-BBA6-A597-2118-BB8900B82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573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 Composite UNIQUE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6B223-CA95-E70C-1630-D54C75B6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CREATE TABLE </a:t>
            </a:r>
            <a:r>
              <a:rPr lang="en-US" dirty="0" err="1"/>
              <a:t>Course_Enrollment</a:t>
            </a:r>
            <a:r>
              <a:rPr lang="en-US" dirty="0"/>
              <a:t>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enrollment_date</a:t>
            </a:r>
            <a:r>
              <a:rPr lang="en-US" dirty="0"/>
              <a:t> DATE,</a:t>
            </a:r>
          </a:p>
          <a:p>
            <a:pPr marL="0" indent="0">
              <a:buNone/>
            </a:pPr>
            <a:r>
              <a:rPr lang="en-US" dirty="0"/>
              <a:t>    UNIQUE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Each student can enroll </a:t>
            </a:r>
            <a:r>
              <a:rPr lang="en-US" b="1" dirty="0"/>
              <a:t>only once per course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But the same student can take </a:t>
            </a:r>
            <a:r>
              <a:rPr lang="en-US" b="1" dirty="0"/>
              <a:t>different courses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451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57555-2508-54C6-DD2B-535030CB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Add UNIQUE Key After Table Creation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EBD20-881F-31F5-AB49-01AE3C696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ALTER TABLE Employees</a:t>
            </a:r>
          </a:p>
          <a:p>
            <a:r>
              <a:rPr lang="en-IN" dirty="0"/>
              <a:t>ADD CONSTRAINT </a:t>
            </a:r>
            <a:r>
              <a:rPr lang="en-IN" dirty="0" err="1"/>
              <a:t>unique_phone</a:t>
            </a:r>
            <a:r>
              <a:rPr lang="en-IN" dirty="0"/>
              <a:t> UNIQUE (phone);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141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29A4C-C3E0-8256-D0CD-2F6F5E41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Unique Keys in MySQL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619E9-C74B-1D9E-3D0E-4F9F5EBC5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INDEX FROM Employees WHERE </a:t>
            </a:r>
            <a:r>
              <a:rPr lang="en-US" dirty="0" err="1"/>
              <a:t>Non_unique</a:t>
            </a:r>
            <a:r>
              <a:rPr lang="en-US" dirty="0"/>
              <a:t> = 0;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703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1E3B-1B96-579E-4A62-82F5D310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Alternate Key — (Candidate but NOT Primary)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CF522-933C-6620-338D-D824D97D0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Alternate Key</a:t>
            </a:r>
            <a:r>
              <a:rPr lang="en-US" dirty="0"/>
              <a:t> is any </a:t>
            </a:r>
            <a:r>
              <a:rPr lang="en-US" b="1" dirty="0"/>
              <a:t>candidate key</a:t>
            </a:r>
            <a:r>
              <a:rPr lang="en-US" dirty="0"/>
              <a:t> that </a:t>
            </a:r>
            <a:r>
              <a:rPr lang="en-US" b="1" dirty="0"/>
              <a:t>is not chosen</a:t>
            </a:r>
            <a:r>
              <a:rPr lang="en-US" dirty="0"/>
              <a:t> as the primary key.</a:t>
            </a:r>
          </a:p>
          <a:p>
            <a:endParaRPr lang="en-US" dirty="0"/>
          </a:p>
          <a:p>
            <a:r>
              <a:rPr lang="en-US" dirty="0"/>
              <a:t>All </a:t>
            </a:r>
            <a:r>
              <a:rPr lang="en-US" b="1" dirty="0"/>
              <a:t>candidate keys</a:t>
            </a:r>
            <a:r>
              <a:rPr lang="en-US" dirty="0"/>
              <a:t> can uniquely identify a row,</a:t>
            </a:r>
            <a:br>
              <a:rPr lang="en-US" dirty="0"/>
            </a:br>
            <a:r>
              <a:rPr lang="en-US" dirty="0"/>
              <a:t>but the one that’s </a:t>
            </a:r>
            <a:r>
              <a:rPr lang="en-US" b="1" dirty="0"/>
              <a:t>not selected as the primary key</a:t>
            </a:r>
            <a:r>
              <a:rPr lang="en-US" dirty="0"/>
              <a:t> becomes an </a:t>
            </a:r>
            <a:r>
              <a:rPr lang="en-US" b="1" dirty="0"/>
              <a:t>Alternate Key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983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EEC7-BE73-3F2A-13F2-6B7EFC3E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66D4-409E-E5DF-27C0-712544964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CREATE TABLE Students 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student_id</a:t>
            </a:r>
            <a:r>
              <a:rPr lang="en-IN" dirty="0"/>
              <a:t> INT PRIMARY KEY,</a:t>
            </a:r>
          </a:p>
          <a:p>
            <a:pPr marL="0" indent="0">
              <a:buNone/>
            </a:pPr>
            <a:r>
              <a:rPr lang="en-IN" dirty="0"/>
              <a:t>    email VARCHAR(100) UNIQUE,</a:t>
            </a:r>
          </a:p>
          <a:p>
            <a:pPr marL="0" indent="0">
              <a:buNone/>
            </a:pPr>
            <a:r>
              <a:rPr lang="en-IN" dirty="0"/>
              <a:t>    phone VARCHAR(15) UNIQUE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 err="1"/>
              <a:t>student_id</a:t>
            </a:r>
            <a:r>
              <a:rPr lang="en-US" dirty="0"/>
              <a:t> → Primary Key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email and phone → both are Unique and can also identify a student</a:t>
            </a:r>
          </a:p>
          <a:p>
            <a:pPr marL="0" indent="0">
              <a:buNone/>
            </a:pPr>
            <a:r>
              <a:rPr lang="en-US" dirty="0"/>
              <a:t>✅ So, email and phone are Alternate Keys.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018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62031-6CC5-B03E-6E6F-D017C317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102466"/>
            <a:ext cx="10515600" cy="783503"/>
          </a:xfrm>
        </p:spPr>
        <p:txBody>
          <a:bodyPr/>
          <a:lstStyle/>
          <a:p>
            <a:r>
              <a:rPr lang="en-US" dirty="0"/>
              <a:t>Secondary Key (Non-Unique Index Key)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06E9-F9E6-D87F-919F-3D2D47CA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39825"/>
            <a:ext cx="11949545" cy="56350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Secondary Key</a:t>
            </a:r>
            <a:r>
              <a:rPr lang="en-US" dirty="0"/>
              <a:t> is an </a:t>
            </a:r>
            <a:r>
              <a:rPr lang="en-US" b="1" dirty="0"/>
              <a:t>index</a:t>
            </a:r>
            <a:r>
              <a:rPr lang="en-US" dirty="0"/>
              <a:t> created on a column that is </a:t>
            </a:r>
            <a:r>
              <a:rPr lang="en-US" b="1" dirty="0"/>
              <a:t>not the primary key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used to </a:t>
            </a:r>
            <a:r>
              <a:rPr lang="en-US" b="1" dirty="0"/>
              <a:t>speed up searches</a:t>
            </a:r>
            <a:r>
              <a:rPr lang="en-US" dirty="0"/>
              <a:t> and </a:t>
            </a:r>
            <a:r>
              <a:rPr lang="en-US" b="1" dirty="0"/>
              <a:t>query performance</a:t>
            </a:r>
            <a:r>
              <a:rPr lang="en-US" dirty="0"/>
              <a:t>, but </a:t>
            </a:r>
            <a:r>
              <a:rPr lang="en-US" b="1" dirty="0"/>
              <a:t>does not ensure uniqueness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department VARCHAR(50),</a:t>
            </a:r>
          </a:p>
          <a:p>
            <a:pPr marL="0" indent="0">
              <a:buNone/>
            </a:pPr>
            <a:r>
              <a:rPr lang="en-US" dirty="0"/>
              <a:t>    salary DECIMAL(10,2)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CREATE INDEX </a:t>
            </a:r>
            <a:r>
              <a:rPr lang="en-US" dirty="0" err="1"/>
              <a:t>idx_department</a:t>
            </a:r>
            <a:r>
              <a:rPr lang="en-US" dirty="0"/>
              <a:t> ON Employees(department);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✅ department becomes a </a:t>
            </a:r>
            <a:r>
              <a:rPr lang="en-US" b="1" dirty="0"/>
              <a:t>Secondary Key (Indexed Key)</a:t>
            </a:r>
            <a:endParaRPr lang="en-US" dirty="0"/>
          </a:p>
          <a:p>
            <a:r>
              <a:rPr lang="en-US" dirty="0"/>
              <a:t>It improves search speed (WHERE department = 'IT')</a:t>
            </a:r>
          </a:p>
          <a:p>
            <a:r>
              <a:rPr lang="en-US" dirty="0"/>
              <a:t>But does </a:t>
            </a:r>
            <a:r>
              <a:rPr lang="en-US" b="1" dirty="0"/>
              <a:t>not</a:t>
            </a:r>
            <a:r>
              <a:rPr lang="en-US" dirty="0"/>
              <a:t> need to be unique.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127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4C39-807F-16B9-B5A4-D3524E0E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Real-Life Analogy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0F4F-7446-093A-0B15-B844B3547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</a:t>
            </a:r>
            <a:r>
              <a:rPr lang="en-US" b="1" dirty="0"/>
              <a:t>student database</a:t>
            </a:r>
            <a:r>
              <a:rPr lang="en-US" dirty="0"/>
              <a:t>:</a:t>
            </a:r>
          </a:p>
          <a:p>
            <a:r>
              <a:rPr lang="en-US" b="1" dirty="0"/>
              <a:t>Primary Key</a:t>
            </a:r>
            <a:r>
              <a:rPr lang="en-US" dirty="0"/>
              <a:t> = Roll number (unique &amp; mandatory)</a:t>
            </a:r>
          </a:p>
          <a:p>
            <a:r>
              <a:rPr lang="en-US" b="1" dirty="0"/>
              <a:t>Alternate Key</a:t>
            </a:r>
            <a:r>
              <a:rPr lang="en-US" dirty="0"/>
              <a:t> = Aadhaar number or Email (unique, but not primary)</a:t>
            </a:r>
          </a:p>
          <a:p>
            <a:r>
              <a:rPr lang="en-US" b="1" dirty="0"/>
              <a:t>Secondary Key</a:t>
            </a:r>
            <a:r>
              <a:rPr lang="en-US" dirty="0"/>
              <a:t> = Class name or City (used for searching quickly)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855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F966B-F4D1-D501-6024-5E2AA9483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5955" y="2547216"/>
            <a:ext cx="10515600" cy="1325563"/>
          </a:xfrm>
        </p:spPr>
        <p:txBody>
          <a:bodyPr/>
          <a:lstStyle/>
          <a:p>
            <a:r>
              <a:rPr lang="en-US" dirty="0"/>
              <a:t>🧠 </a:t>
            </a:r>
            <a:r>
              <a:rPr lang="en-US" b="1" dirty="0"/>
              <a:t>Normalization in MySQL / RDBMS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302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6EE4-B2B1-4F92-1E6C-DC749A9F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8078-7E39-E6C1-AA05-6667086B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Normalization</a:t>
            </a:r>
            <a:r>
              <a:rPr lang="en-US" dirty="0"/>
              <a:t> is the </a:t>
            </a:r>
            <a:r>
              <a:rPr lang="en-US" b="1" dirty="0"/>
              <a:t>process of organizing data</a:t>
            </a:r>
            <a:r>
              <a:rPr lang="en-US" dirty="0"/>
              <a:t> in a database to </a:t>
            </a:r>
            <a:r>
              <a:rPr lang="en-US" b="1" dirty="0"/>
              <a:t>reduce redundancy</a:t>
            </a:r>
            <a:r>
              <a:rPr lang="en-US" dirty="0"/>
              <a:t> (duplicate data) and </a:t>
            </a:r>
            <a:r>
              <a:rPr lang="en-US" b="1" dirty="0"/>
              <a:t>improve data integrity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breaks large, complex tables into smaller, related tables — ensuring data is stored efficiently and consistently.</a:t>
            </a:r>
          </a:p>
          <a:p>
            <a:endParaRPr lang="en-US" dirty="0"/>
          </a:p>
          <a:p>
            <a:r>
              <a:rPr lang="en-US" b="1" dirty="0"/>
              <a:t>Definition</a:t>
            </a:r>
          </a:p>
          <a:p>
            <a:r>
              <a:rPr lang="en-US" b="1" dirty="0"/>
              <a:t>Normalization</a:t>
            </a:r>
            <a:r>
              <a:rPr lang="en-US" dirty="0"/>
              <a:t> is the process of </a:t>
            </a:r>
            <a:r>
              <a:rPr lang="en-US" b="1" dirty="0"/>
              <a:t>structuring a relational database</a:t>
            </a:r>
            <a:r>
              <a:rPr lang="en-US" dirty="0"/>
              <a:t> in such a way that </a:t>
            </a:r>
            <a:r>
              <a:rPr lang="en-US" b="1" dirty="0"/>
              <a:t>data duplication is minimized</a:t>
            </a:r>
            <a:r>
              <a:rPr lang="en-US" dirty="0"/>
              <a:t> and </a:t>
            </a:r>
            <a:r>
              <a:rPr lang="en-US" b="1" dirty="0"/>
              <a:t>relationships are well-defined</a:t>
            </a:r>
            <a:r>
              <a:rPr lang="en-US" dirty="0"/>
              <a:t> through the use of </a:t>
            </a:r>
            <a:r>
              <a:rPr lang="en-US" b="1" dirty="0"/>
              <a:t>keys</a:t>
            </a:r>
            <a:r>
              <a:rPr lang="en-US" dirty="0"/>
              <a:t> and </a:t>
            </a:r>
            <a:r>
              <a:rPr lang="en-US" b="1" dirty="0"/>
              <a:t>foreign keys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251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C1B16-9B2F-8843-4AAA-5373963D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2️⃣ Goals of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7CCF3-B734-2D89-5ED2-0F9A03D9D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✅ Eliminate redundant (repeated) data</a:t>
            </a:r>
            <a:br>
              <a:rPr lang="en-IN" dirty="0"/>
            </a:br>
            <a:r>
              <a:rPr lang="en-IN" dirty="0"/>
              <a:t>✅ Ensure data dependencies make sense</a:t>
            </a:r>
            <a:br>
              <a:rPr lang="en-IN" dirty="0"/>
            </a:br>
            <a:r>
              <a:rPr lang="en-IN" dirty="0"/>
              <a:t>✅ Simplify maintenance and updates</a:t>
            </a:r>
            <a:br>
              <a:rPr lang="en-IN" dirty="0"/>
            </a:br>
            <a:r>
              <a:rPr lang="en-IN" dirty="0"/>
              <a:t>✅ Improve data integrity (accuracy &amp; consistency)</a:t>
            </a:r>
            <a:br>
              <a:rPr lang="en-IN" dirty="0"/>
            </a:br>
            <a:r>
              <a:rPr lang="en-IN" dirty="0"/>
              <a:t>✅ Save storage space and optimize queries</a:t>
            </a:r>
          </a:p>
        </p:txBody>
      </p:sp>
    </p:spTree>
    <p:extLst>
      <p:ext uri="{BB962C8B-B14F-4D97-AF65-F5344CB8AC3E}">
        <p14:creationId xmlns:p14="http://schemas.microsoft.com/office/powerpoint/2010/main" val="4109987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41631C-090F-2110-1F67-BC583D306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6" y="571500"/>
            <a:ext cx="11159837" cy="569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31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077F-EC54-C763-1135-E9BEA96C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🧩 </a:t>
            </a:r>
            <a:r>
              <a:rPr lang="en-IN" b="1" dirty="0"/>
              <a:t>4️⃣ After Normalization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20BB1-9CAD-2D09-3F30-2CB81EDAE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659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2C3F-AA85-71D2-BD22-E1A3EA7F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754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Step 1️⃣ — </a:t>
            </a:r>
            <a:r>
              <a:rPr lang="en-US" b="1" dirty="0"/>
              <a:t>1NF (First Normal Form)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05C25-03DD-91B1-50CF-B4614646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72" y="1087871"/>
            <a:ext cx="11776363" cy="4351338"/>
          </a:xfrm>
        </p:spPr>
        <p:txBody>
          <a:bodyPr/>
          <a:lstStyle/>
          <a:p>
            <a:r>
              <a:rPr lang="en-US" dirty="0"/>
              <a:t>➡ Remove repeating groups — each column should hold only one value.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0AFB7-2FB6-2C19-2565-42839CD7C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844" y="2015367"/>
            <a:ext cx="8672312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08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554C8-6CBF-0988-3F03-8273B962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2️⃣ — </a:t>
            </a:r>
            <a:r>
              <a:rPr lang="en-US" b="1" dirty="0"/>
              <a:t>2NF (Second Normal Form)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3985-D381-546E-7FF4-0DCCF5D51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0835"/>
            <a:ext cx="12192000" cy="4351338"/>
          </a:xfrm>
        </p:spPr>
        <p:txBody>
          <a:bodyPr/>
          <a:lstStyle/>
          <a:p>
            <a:r>
              <a:rPr lang="en-US" dirty="0"/>
              <a:t>➡ Remove </a:t>
            </a:r>
            <a:r>
              <a:rPr lang="en-US" b="1" dirty="0"/>
              <a:t>partial dependency</a:t>
            </a:r>
            <a:r>
              <a:rPr lang="en-US" dirty="0"/>
              <a:t> (non-key fields depending on part of a composite key).</a:t>
            </a:r>
            <a:br>
              <a:rPr lang="en-US" dirty="0"/>
            </a:br>
            <a:r>
              <a:rPr lang="en-US" dirty="0"/>
              <a:t>Split data into separate tables for </a:t>
            </a:r>
            <a:r>
              <a:rPr lang="en-US" b="1" dirty="0"/>
              <a:t>students</a:t>
            </a:r>
            <a:r>
              <a:rPr lang="en-US" dirty="0"/>
              <a:t>, </a:t>
            </a:r>
            <a:r>
              <a:rPr lang="en-US" b="1" dirty="0"/>
              <a:t>courses</a:t>
            </a:r>
            <a:r>
              <a:rPr lang="en-US" dirty="0"/>
              <a:t>, and </a:t>
            </a:r>
            <a:r>
              <a:rPr lang="en-US" b="1" dirty="0"/>
              <a:t>enrollments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9500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DD7074-32A1-8A85-38BD-D785F6867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9F0C-8CCC-B4BB-ACBB-67CF0B387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6" y="18256"/>
            <a:ext cx="10515600" cy="813018"/>
          </a:xfrm>
        </p:spPr>
        <p:txBody>
          <a:bodyPr/>
          <a:lstStyle/>
          <a:p>
            <a:r>
              <a:rPr lang="en-US" dirty="0"/>
              <a:t>Step 3️⃣ — </a:t>
            </a:r>
            <a:r>
              <a:rPr lang="en-US" b="1" dirty="0"/>
              <a:t>3NF (Third Normal Form)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F733-0164-C079-8607-A82A39ABE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12607"/>
            <a:ext cx="11776364" cy="4351338"/>
          </a:xfrm>
        </p:spPr>
        <p:txBody>
          <a:bodyPr/>
          <a:lstStyle/>
          <a:p>
            <a:r>
              <a:rPr lang="en-US" dirty="0"/>
              <a:t>➡ Remove </a:t>
            </a:r>
            <a:r>
              <a:rPr lang="en-US" b="1" dirty="0"/>
              <a:t>transitive dependency</a:t>
            </a:r>
            <a:r>
              <a:rPr lang="en-US" dirty="0"/>
              <a:t> (non-key column depending on another non-key column).</a:t>
            </a:r>
          </a:p>
          <a:p>
            <a:r>
              <a:rPr lang="en-US" dirty="0"/>
              <a:t>If “Instructor” depends on “</a:t>
            </a:r>
            <a:r>
              <a:rPr lang="en-US" dirty="0" err="1"/>
              <a:t>Course_Name</a:t>
            </a:r>
            <a:r>
              <a:rPr lang="en-US" dirty="0"/>
              <a:t>,”</a:t>
            </a:r>
            <a:br>
              <a:rPr lang="en-US" dirty="0"/>
            </a:br>
            <a:r>
              <a:rPr lang="en-US" dirty="0"/>
              <a:t>move instructor data to a separate table.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AD637-F1BD-8CA3-5B73-F23F1CCB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89" y="2888164"/>
            <a:ext cx="6104149" cy="37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96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903F9-6D80-941E-19A7-F48DCB644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18" y="191527"/>
            <a:ext cx="3242750" cy="733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537CAB-D3FE-86EA-27BA-915E3D7CF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355" y="1569027"/>
            <a:ext cx="8520545" cy="419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6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E188-713B-1968-02BA-B76A544E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766218"/>
            <a:ext cx="11353800" cy="1325563"/>
          </a:xfrm>
        </p:spPr>
        <p:txBody>
          <a:bodyPr/>
          <a:lstStyle/>
          <a:p>
            <a:r>
              <a:rPr lang="en-IN" dirty="0"/>
              <a:t>🔗 </a:t>
            </a:r>
            <a:r>
              <a:rPr lang="en-IN" b="1" dirty="0"/>
              <a:t>Multiplicity in Database Design (ERD Concept)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949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021F-D5B3-46D8-C72C-8B7279A8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EDB62-AEA1-493F-0A8E-997E007D8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Multiplicity</a:t>
            </a:r>
            <a:r>
              <a:rPr lang="en-US" dirty="0"/>
              <a:t> — also known as </a:t>
            </a:r>
            <a:r>
              <a:rPr lang="en-US" b="1" dirty="0"/>
              <a:t>Cardinality</a:t>
            </a:r>
            <a:r>
              <a:rPr lang="en-US" dirty="0"/>
              <a:t> — describes </a:t>
            </a:r>
            <a:r>
              <a:rPr lang="en-US" b="1" dirty="0"/>
              <a:t>how many instances of one entity</a:t>
            </a:r>
            <a:r>
              <a:rPr lang="en-US" dirty="0"/>
              <a:t> are </a:t>
            </a:r>
            <a:r>
              <a:rPr lang="en-US" b="1" dirty="0"/>
              <a:t>associated with instances of another entity</a:t>
            </a:r>
            <a:r>
              <a:rPr lang="en-US" dirty="0"/>
              <a:t> in a relationship.</a:t>
            </a:r>
            <a:br>
              <a:rPr lang="en-US" dirty="0"/>
            </a:br>
            <a:r>
              <a:rPr lang="en-US" dirty="0"/>
              <a:t>It is a key concept in </a:t>
            </a:r>
            <a:r>
              <a:rPr lang="en-US" b="1" dirty="0"/>
              <a:t>Entity–Relationship Diagrams (ERDs)</a:t>
            </a:r>
            <a:r>
              <a:rPr lang="en-US" dirty="0"/>
              <a:t> and </a:t>
            </a:r>
            <a:r>
              <a:rPr lang="en-US" b="1" dirty="0"/>
              <a:t>data modeling</a:t>
            </a:r>
            <a:r>
              <a:rPr lang="en-US" dirty="0"/>
              <a:t>.</a:t>
            </a:r>
          </a:p>
          <a:p>
            <a:endParaRPr lang="en-IN" dirty="0"/>
          </a:p>
          <a:p>
            <a:r>
              <a:rPr lang="en-US" b="1" dirty="0"/>
              <a:t>Multiplicity</a:t>
            </a:r>
            <a:r>
              <a:rPr lang="en-US" dirty="0"/>
              <a:t> defines the </a:t>
            </a:r>
            <a:r>
              <a:rPr lang="en-US" b="1" dirty="0"/>
              <a:t>number of occurrences</a:t>
            </a:r>
            <a:r>
              <a:rPr lang="en-US" dirty="0"/>
              <a:t> (records) that can participate in a relationship between two entities.</a:t>
            </a:r>
          </a:p>
          <a:p>
            <a:r>
              <a:rPr lang="en-US" dirty="0"/>
              <a:t>It tells us </a:t>
            </a:r>
            <a:r>
              <a:rPr lang="en-US" b="1" dirty="0"/>
              <a:t>how many</a:t>
            </a:r>
            <a:r>
              <a:rPr lang="en-US" dirty="0"/>
              <a:t> of one entity can or must be related to another entity.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854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283D-F753-5052-A6D8-47B3DCD1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🧱 </a:t>
            </a:r>
            <a:r>
              <a:rPr lang="en-IN" b="1" dirty="0"/>
              <a:t>2️⃣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A0AD-86D0-E099-BF99-01379F23F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two entities:</a:t>
            </a:r>
            <a:br>
              <a:rPr lang="en-US" dirty="0"/>
            </a:br>
            <a:r>
              <a:rPr lang="en-US" b="1" dirty="0"/>
              <a:t>Student</a:t>
            </a:r>
            <a:r>
              <a:rPr lang="en-US" dirty="0"/>
              <a:t> and </a:t>
            </a:r>
            <a:r>
              <a:rPr lang="en-US" b="1" dirty="0"/>
              <a:t>Course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Student</a:t>
            </a:r>
            <a:r>
              <a:rPr lang="en-US" dirty="0"/>
              <a:t> can take </a:t>
            </a:r>
            <a:r>
              <a:rPr lang="en-US" b="1" dirty="0"/>
              <a:t>many Courses</a:t>
            </a: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Course</a:t>
            </a:r>
            <a:r>
              <a:rPr lang="en-US" dirty="0"/>
              <a:t> can have </a:t>
            </a:r>
            <a:r>
              <a:rPr lang="en-US" b="1" dirty="0"/>
              <a:t>many Students</a:t>
            </a:r>
            <a:endParaRPr lang="en-US" dirty="0"/>
          </a:p>
          <a:p>
            <a:r>
              <a:rPr lang="en-US" dirty="0"/>
              <a:t>✅ This is a </a:t>
            </a:r>
            <a:r>
              <a:rPr lang="en-US" b="1" dirty="0"/>
              <a:t>Many-to-Many (M:N)</a:t>
            </a:r>
            <a:r>
              <a:rPr lang="en-US" dirty="0"/>
              <a:t> relationship.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9152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6918-F49D-B9CF-E415-D93ED646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📘 3️⃣ Types of Multiplicity / Cardinality</a:t>
            </a:r>
            <a:br>
              <a:rPr lang="en-US" b="1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27D32-B1DE-233F-3ABB-28FA02AFD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2267899"/>
            <a:ext cx="9859876" cy="359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633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93D7-C58C-2CFC-FC75-4EC954625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8255"/>
            <a:ext cx="10515600" cy="875363"/>
          </a:xfrm>
        </p:spPr>
        <p:txBody>
          <a:bodyPr/>
          <a:lstStyle/>
          <a:p>
            <a:r>
              <a:rPr lang="en-IN" dirty="0"/>
              <a:t>Implementing Multiplicity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2CFAF-1591-E9D8-045C-3E4857D4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63" y="1253331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🧩 (a) One-to-One (1:1)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US" dirty="0"/>
              <a:t>Each person has exactly one passport.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Person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person_id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Passport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passport_id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person_id</a:t>
            </a:r>
            <a:r>
              <a:rPr lang="en-US" dirty="0"/>
              <a:t> INT UNIQUE,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person_id</a:t>
            </a:r>
            <a:r>
              <a:rPr lang="en-US" dirty="0"/>
              <a:t>) REFERENCES Person(</a:t>
            </a:r>
            <a:r>
              <a:rPr lang="en-US" dirty="0" err="1"/>
              <a:t>person_id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814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3F4A-DFD7-3281-A7AC-2A77F872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🧩 (b) One-to-Many (1:N)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0E472-4EAB-F3E9-D055-3F934A223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One department can have many employees.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TABLE Department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dept_name</a:t>
            </a:r>
            <a:r>
              <a:rPr lang="en-US" dirty="0"/>
              <a:t>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VARCHAR(50),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dept_id</a:t>
            </a:r>
            <a:r>
              <a:rPr lang="en-US" dirty="0"/>
              <a:t> INT,</a:t>
            </a: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dept_id</a:t>
            </a:r>
            <a:r>
              <a:rPr lang="en-US" dirty="0"/>
              <a:t>) REFERENCES Department(</a:t>
            </a:r>
            <a:r>
              <a:rPr lang="en-US" dirty="0" err="1"/>
              <a:t>dept_id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One department → many employees.</a:t>
            </a:r>
          </a:p>
        </p:txBody>
      </p:sp>
    </p:spTree>
    <p:extLst>
      <p:ext uri="{BB962C8B-B14F-4D97-AF65-F5344CB8AC3E}">
        <p14:creationId xmlns:p14="http://schemas.microsoft.com/office/powerpoint/2010/main" val="3241472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1525-119D-86A2-1239-25586907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🧩 (c) Many-to-Many (M:N)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3A9AD-1C5B-BCAB-2C94-1C2511C80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Many students can enroll in many courses.</a:t>
            </a:r>
          </a:p>
          <a:p>
            <a:endParaRPr lang="en-US" dirty="0"/>
          </a:p>
          <a:p>
            <a:r>
              <a:rPr lang="en-US" dirty="0"/>
              <a:t>CREATE TABLE Students (</a:t>
            </a:r>
          </a:p>
          <a:p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 PRIMARY KEY,</a:t>
            </a:r>
          </a:p>
          <a:p>
            <a:r>
              <a:rPr lang="en-US" dirty="0"/>
              <a:t>    name VARCHAR(50)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CREATE TABLE Courses (</a:t>
            </a:r>
          </a:p>
          <a:p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 PRIMARY KEY,</a:t>
            </a:r>
          </a:p>
          <a:p>
            <a:r>
              <a:rPr lang="en-US" dirty="0"/>
              <a:t>    </a:t>
            </a:r>
            <a:r>
              <a:rPr lang="en-US" dirty="0" err="1"/>
              <a:t>course_name</a:t>
            </a:r>
            <a:r>
              <a:rPr lang="en-US" dirty="0"/>
              <a:t> VARCHAR(50)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-- Junction (bridge) table</a:t>
            </a:r>
          </a:p>
          <a:p>
            <a:r>
              <a:rPr lang="en-US" dirty="0"/>
              <a:t>CREATE TABLE Enrollments (</a:t>
            </a:r>
          </a:p>
          <a:p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</a:p>
          <a:p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</a:p>
          <a:p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),</a:t>
            </a:r>
          </a:p>
          <a:p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) REFERENCES Students(</a:t>
            </a:r>
            <a:r>
              <a:rPr lang="en-US" dirty="0" err="1"/>
              <a:t>student_id</a:t>
            </a:r>
            <a:r>
              <a:rPr lang="en-US" dirty="0"/>
              <a:t>),</a:t>
            </a:r>
          </a:p>
          <a:p>
            <a:r>
              <a:rPr lang="en-US" dirty="0"/>
              <a:t>    FOREIGN KEY (</a:t>
            </a:r>
            <a:r>
              <a:rPr lang="en-US" dirty="0" err="1"/>
              <a:t>course_id</a:t>
            </a:r>
            <a:r>
              <a:rPr lang="en-US" dirty="0"/>
              <a:t>) REFERENCES Courses(</a:t>
            </a:r>
            <a:r>
              <a:rPr lang="en-US" dirty="0" err="1"/>
              <a:t>course_id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435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3FC0-4679-227B-5B8B-A4834C6C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C76EC7-603A-DE48-CBBE-709140175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Multiplicity defines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entities are connected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(1:1, 1:M, M:N).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ensures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consistency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ER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via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junction tables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MySQL.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It’s crucial for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referential integrity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5556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B651-79C1-966D-3860-978DEEE1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🧩 </a:t>
            </a:r>
            <a:r>
              <a:rPr lang="en-IN" b="1" dirty="0"/>
              <a:t>Consistency in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3E878-DF64-2956-7A72-5ECEAC2BD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Consistency</a:t>
            </a:r>
            <a:r>
              <a:rPr lang="en-US" dirty="0"/>
              <a:t> is one of the most important principles in database systems — especially in </a:t>
            </a:r>
            <a:r>
              <a:rPr lang="en-US" b="1" dirty="0"/>
              <a:t>RDBMS (Relational Database Management Systems)</a:t>
            </a:r>
            <a:r>
              <a:rPr lang="en-US" dirty="0"/>
              <a:t> and </a:t>
            </a:r>
            <a:r>
              <a:rPr lang="en-US" b="1" dirty="0"/>
              <a:t>ACID</a:t>
            </a:r>
            <a:r>
              <a:rPr lang="en-US" dirty="0"/>
              <a:t> properties of transactions.</a:t>
            </a:r>
          </a:p>
          <a:p>
            <a:endParaRPr lang="en-US" dirty="0"/>
          </a:p>
          <a:p>
            <a:r>
              <a:rPr lang="en-US" b="1" dirty="0"/>
              <a:t>Consistency</a:t>
            </a:r>
            <a:r>
              <a:rPr lang="en-US" dirty="0"/>
              <a:t> means that </a:t>
            </a:r>
            <a:r>
              <a:rPr lang="en-US" b="1" dirty="0"/>
              <a:t>data in the database must always be valid and follow all defined rules, constraints, and relationships</a:t>
            </a:r>
            <a:r>
              <a:rPr lang="en-US" dirty="0"/>
              <a:t>.</a:t>
            </a:r>
          </a:p>
          <a:p>
            <a:r>
              <a:rPr lang="en-US" dirty="0"/>
              <a:t>In other words, after any transaction, the database should </a:t>
            </a:r>
            <a:r>
              <a:rPr lang="en-US" b="1" dirty="0"/>
              <a:t>remain in a correct and predictable state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511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9CFC-5BFD-4360-6279-A6E06ECA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2️⃣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77D8-9CEE-5A59-8918-3AA490587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a </a:t>
            </a:r>
            <a:r>
              <a:rPr lang="en-US" b="1" dirty="0"/>
              <a:t>bank database</a:t>
            </a:r>
            <a:r>
              <a:rPr lang="en-US" dirty="0"/>
              <a:t>:</a:t>
            </a:r>
          </a:p>
          <a:p>
            <a:r>
              <a:rPr lang="en-US" dirty="0"/>
              <a:t>You transfer ₹500 from </a:t>
            </a:r>
            <a:r>
              <a:rPr lang="en-US" b="1" dirty="0"/>
              <a:t>Account A</a:t>
            </a:r>
            <a:r>
              <a:rPr lang="en-US" dirty="0"/>
              <a:t> to </a:t>
            </a:r>
            <a:r>
              <a:rPr lang="en-US" b="1" dirty="0"/>
              <a:t>Account B</a:t>
            </a:r>
            <a:r>
              <a:rPr lang="en-US" dirty="0"/>
              <a:t>.</a:t>
            </a:r>
          </a:p>
          <a:p>
            <a:r>
              <a:rPr lang="en-US" dirty="0"/>
              <a:t>The system must:</a:t>
            </a:r>
          </a:p>
          <a:p>
            <a:pPr lvl="1"/>
            <a:r>
              <a:rPr lang="en-US" dirty="0"/>
              <a:t>Subtract ₹500 from A</a:t>
            </a:r>
          </a:p>
          <a:p>
            <a:pPr lvl="1"/>
            <a:r>
              <a:rPr lang="en-US" dirty="0"/>
              <a:t>Add ₹500 to B</a:t>
            </a:r>
          </a:p>
          <a:p>
            <a:pPr lvl="1"/>
            <a:r>
              <a:rPr lang="en-US" dirty="0"/>
              <a:t>Ensure the </a:t>
            </a:r>
            <a:r>
              <a:rPr lang="en-US" b="1" dirty="0"/>
              <a:t>total balance in the system stays the same</a:t>
            </a:r>
            <a:endParaRPr lang="en-US" dirty="0"/>
          </a:p>
          <a:p>
            <a:r>
              <a:rPr lang="en-US" dirty="0"/>
              <a:t>✅ If both steps complete successfully → </a:t>
            </a:r>
            <a:r>
              <a:rPr lang="en-US" b="1" dirty="0"/>
              <a:t>Database remains consistent</a:t>
            </a:r>
            <a:br>
              <a:rPr lang="en-US" dirty="0"/>
            </a:br>
            <a:r>
              <a:rPr lang="en-US" dirty="0"/>
              <a:t>❌ If only one step succeeds (money deducted from A but not added to B) → </a:t>
            </a:r>
            <a:r>
              <a:rPr lang="en-US" b="1" dirty="0"/>
              <a:t>Database becomes inconsistent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2877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4BDA-6052-E614-FD38-B0665E74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3️⃣ Consistency in ACID Properties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3688B3-8663-5EF8-2F07-E89F537917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49734"/>
          <a:ext cx="10515600" cy="2103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261220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788260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255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 – Atomicity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or nothing (transaction fully completes or not at all)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652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 – Consistency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database remains valid after every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51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 – Isolation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Transactions don’t interfere with each other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877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 – Durability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Once committed, data changes are permanent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249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605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B402-8C9A-421B-198D-DA2C8580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4️⃣ Rules That Ensure Consistency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83B67-1362-FA7A-D228-CCCA99955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Consistency is maintained using database constraints such as:</a:t>
            </a:r>
          </a:p>
          <a:p>
            <a:endParaRPr lang="en-US" dirty="0"/>
          </a:p>
          <a:p>
            <a:r>
              <a:rPr lang="en-US" dirty="0"/>
              <a:t>Constraint	Ensures</a:t>
            </a:r>
          </a:p>
          <a:p>
            <a:r>
              <a:rPr lang="en-US" dirty="0"/>
              <a:t>Primary Key	Each record is uniquely identifiable</a:t>
            </a:r>
          </a:p>
          <a:p>
            <a:r>
              <a:rPr lang="en-US" dirty="0"/>
              <a:t>Foreign Key	Relationships between tables are valid</a:t>
            </a:r>
          </a:p>
          <a:p>
            <a:r>
              <a:rPr lang="en-US" dirty="0"/>
              <a:t>Unique Key	No duplicate values in a column</a:t>
            </a:r>
          </a:p>
          <a:p>
            <a:r>
              <a:rPr lang="en-US" dirty="0"/>
              <a:t>Check Constraint	Values meet specific conditions (salary &gt; 0)</a:t>
            </a:r>
          </a:p>
          <a:p>
            <a:r>
              <a:rPr lang="en-US" dirty="0"/>
              <a:t>Not Null	No missing values in required fields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420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8C2C-6C9A-A2BB-2E52-F11297DB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555" y="18255"/>
            <a:ext cx="11197936" cy="1325563"/>
          </a:xfrm>
        </p:spPr>
        <p:txBody>
          <a:bodyPr/>
          <a:lstStyle/>
          <a:p>
            <a:r>
              <a:rPr lang="en-US" dirty="0"/>
              <a:t>5️⃣ Example: Maintaining Consistency in MySQL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297B-D94B-4B29-8516-AD8ADCDF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5" y="1343817"/>
            <a:ext cx="11630890" cy="52232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CREATE TABLE Account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acc_id</a:t>
            </a:r>
            <a:r>
              <a:rPr lang="en-US" dirty="0"/>
              <a:t> INT PRIMARY KEY,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balance DECIMAL(10,2) CHECK (balance &gt;= 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 if someone tries: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INSERT INTO Account VALUES (1, 'Ravi', -500);</a:t>
            </a:r>
          </a:p>
          <a:p>
            <a:r>
              <a:rPr lang="en-US" dirty="0"/>
              <a:t>❌ MySQL will reject it — because it </a:t>
            </a:r>
            <a:r>
              <a:rPr lang="en-US" b="1" dirty="0"/>
              <a:t>violates the CHECK constraint</a:t>
            </a:r>
            <a:r>
              <a:rPr lang="en-US" dirty="0"/>
              <a:t>.</a:t>
            </a:r>
          </a:p>
          <a:p>
            <a:r>
              <a:rPr lang="en-US" dirty="0"/>
              <a:t>✅ This keeps the database </a:t>
            </a:r>
            <a:r>
              <a:rPr lang="en-US" b="1" dirty="0"/>
              <a:t>consistent</a:t>
            </a:r>
            <a:r>
              <a:rPr lang="en-US" dirty="0"/>
              <a:t> (no negative balance allowed).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82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2286</Words>
  <Application>Microsoft Office PowerPoint</Application>
  <PresentationFormat>Widescreen</PresentationFormat>
  <Paragraphs>295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Wingdings</vt:lpstr>
      <vt:lpstr>Office Theme</vt:lpstr>
      <vt:lpstr>MySQL Advanced Schema</vt:lpstr>
      <vt:lpstr>🧩 What Is an Advanced Schema?</vt:lpstr>
      <vt:lpstr>🔑 What is a Primary Key</vt:lpstr>
      <vt:lpstr>Example 1: Single Column Primary Key</vt:lpstr>
      <vt:lpstr>Example 2: Composite Primary Key (Multiple Columns)</vt:lpstr>
      <vt:lpstr>Example 3: Adding Primary Key Later</vt:lpstr>
      <vt:lpstr>🌐 Foreign Key in MySQL </vt:lpstr>
      <vt:lpstr>Example: Student–MARKS Relationship</vt:lpstr>
      <vt:lpstr>4️⃣ Referential Integrity Rules</vt:lpstr>
      <vt:lpstr>5️⃣ CASCADE Options (Advanced)</vt:lpstr>
      <vt:lpstr>🧮 Example: Cascading Delete</vt:lpstr>
      <vt:lpstr>6️⃣ Composite Foreign Keys</vt:lpstr>
      <vt:lpstr>Referential Integrity in MySQL</vt:lpstr>
      <vt:lpstr>Enforcing Referential Integrity Using Foreign Keys</vt:lpstr>
      <vt:lpstr>🔑 UNIQUE Key in MySQL </vt:lpstr>
      <vt:lpstr>PowerPoint Presentation</vt:lpstr>
      <vt:lpstr>EXAMPLE</vt:lpstr>
      <vt:lpstr>Example: Composite UNIQUE Key</vt:lpstr>
      <vt:lpstr> Add UNIQUE Key After Table Creation</vt:lpstr>
      <vt:lpstr>Viewing Unique Keys in MySQL</vt:lpstr>
      <vt:lpstr>Alternate Key — (Candidate but NOT Primary)</vt:lpstr>
      <vt:lpstr>EXAMPLE</vt:lpstr>
      <vt:lpstr>Secondary Key (Non-Unique Index Key)</vt:lpstr>
      <vt:lpstr>Real-Life Analogy </vt:lpstr>
      <vt:lpstr>🧠 Normalization in MySQL / RDBMS</vt:lpstr>
      <vt:lpstr>PowerPoint Presentation</vt:lpstr>
      <vt:lpstr>2️⃣ Goals of Normalization</vt:lpstr>
      <vt:lpstr>PowerPoint Presentation</vt:lpstr>
      <vt:lpstr>🧩 4️⃣ After Normalization</vt:lpstr>
      <vt:lpstr>Step 1️⃣ — 1NF (First Normal Form)</vt:lpstr>
      <vt:lpstr>Step 2️⃣ — 2NF (Second Normal Form)</vt:lpstr>
      <vt:lpstr>PowerPoint Presentation</vt:lpstr>
      <vt:lpstr>Step 3️⃣ — 3NF (Third Normal Form)</vt:lpstr>
      <vt:lpstr>PowerPoint Presentation</vt:lpstr>
      <vt:lpstr>🔗 Multiplicity in Database Design (ERD Concept)</vt:lpstr>
      <vt:lpstr>PowerPoint Presentation</vt:lpstr>
      <vt:lpstr>🧱 2️⃣ Example</vt:lpstr>
      <vt:lpstr>📘 3️⃣ Types of Multiplicity / Cardinality </vt:lpstr>
      <vt:lpstr>Implementing Multiplicity in MySQL</vt:lpstr>
      <vt:lpstr>🧩 (b) One-to-Many (1:N)</vt:lpstr>
      <vt:lpstr>🧩 (c) Many-to-Many (M:N)</vt:lpstr>
      <vt:lpstr>Key Takeaways</vt:lpstr>
      <vt:lpstr>🧩 Consistency in Databases</vt:lpstr>
      <vt:lpstr>2️⃣ Example</vt:lpstr>
      <vt:lpstr>3️⃣ Consistency in ACID Properties</vt:lpstr>
      <vt:lpstr>📘 4️⃣ Rules That Ensure Consistency</vt:lpstr>
      <vt:lpstr>5️⃣ Example: Maintaining Consistency in MySQL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Data Engineering</cp:lastModifiedBy>
  <cp:revision>2</cp:revision>
  <dcterms:created xsi:type="dcterms:W3CDTF">2025-10-18T02:44:56Z</dcterms:created>
  <dcterms:modified xsi:type="dcterms:W3CDTF">2025-10-18T02:57:38Z</dcterms:modified>
</cp:coreProperties>
</file>