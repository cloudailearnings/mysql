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F6D5-0406-658A-CF2B-94D3460C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0C8F6-74B4-71CE-37F8-BCD7E9D0C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5FC4D-33DC-1A43-F99D-AC89D98E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B361F-28D9-1A94-F33F-9881045E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2EC38-2131-94F4-6BFF-D9C9D076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04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6B40-B3EC-46EC-6C76-E0876496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A1CD-3CC5-D55D-057C-EB80FE84E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212C0-CE55-4CCB-4A3C-0F712D90F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B5D0E-CAEE-4476-F024-5EB627CB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D043-2D7A-7139-0A6D-904E8D4A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31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C4D6-BA54-A1AB-9303-1F8863F1A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59A8A-D5DF-7F09-5342-10FF47199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0DF7-01AB-5E69-279D-50786894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7A9C6-DEAE-DC5D-6BD3-162787C0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324B3-D60B-94CB-4E32-C37D6B9A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5137-E211-9C23-6F4A-44F2D3B6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128A-E286-39BF-7E12-8D4F117F6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CFE94-C613-14D2-E996-1D90794AF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16885-E62C-8E8B-B35A-973FBF45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D4F33-6634-B5D3-C2BD-4F96B08A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2C61A-EC60-9D53-1D25-31E6139D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1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FB6AC-BAF0-CF80-4A7D-BEAB3140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9B7E8-6227-B850-3933-18B0EEDC0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484C6-53B2-59D0-05AB-8FE6B12C8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EAA27-A622-7508-E2A2-4DF08AB19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6E6CB-961D-809D-CB43-9A88794E3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88FD5-A177-A45B-DE9B-6F32205C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3981C-C21D-4692-B9F4-ED94E0E1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69CCE-DF1A-DB3A-9E5B-D9521D94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15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51D6-222F-BD93-F446-358B3171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0DD24-83A0-E8D6-092F-6BFC8796D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EF9BB-EB2E-EC22-71A5-6F097265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37719-F4E7-EA3C-51D1-DB4B9994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0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85472-CB65-9237-1DCA-AB4E812D4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DD8C4-4C5B-226F-D8AC-00FEAFF8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F2C89-1045-5013-7BB2-575B11A2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31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3727-380A-EBA1-0383-8269DF3CC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38BC9-E871-D60A-2E2C-66F6A39D4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3CBB8-EA66-5ADA-F5D2-D717BB519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92611-FEB7-600F-B9CC-A2BF1800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6A5FF-11FE-72CE-79A1-214F0663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61324-9332-FCA1-098E-D055682E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83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089F-CF46-4931-2338-FB9A2F7C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14CAB-A334-DF57-9701-49FEA635A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C6025-5158-6191-97F9-F14F94DCF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CF69C-E769-829E-1EF9-3CF05CAB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0770A-BBF1-C161-EC1F-ACAA797C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82878-8896-F7FB-C6FD-55297D6B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43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CA76-B1A4-2838-219A-29AE85C5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C8DE8-55EB-D4A4-64FF-EA217CB22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342A6-B49B-F9D4-1C14-158E8180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F94AF-F4E1-0B73-FA36-EC9DF6A6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19FE2-7C05-A789-95B2-350B0F3D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64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3D6D2-7E4E-67C0-1964-157784CE9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DD782-D109-295D-ACE6-CCD81AEBE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FE1FE-B4F8-30A4-BEA4-4D574851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87983-2704-CB89-DD34-B073F36B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1B686-C56B-BB47-7285-71211740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89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3262D-B7F5-30BB-9E22-9CF8E22C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D192C-5935-4ECC-08B1-FFB859DE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1CFF6-EC03-3545-AF4A-BF2A2B8B2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365AA-1A84-476C-A7DF-41B4A65F83C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944DE-8279-649B-6901-B680E3562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ED94F-590B-94F7-F84A-043DBF230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13A35-9C07-4724-B708-D3D49124E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89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E58E-E287-736B-98B5-C94D0CC0F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🧠 </a:t>
            </a:r>
            <a:r>
              <a:rPr lang="en-IN" b="1" dirty="0"/>
              <a:t>MySQL Subqueries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95DDC-C457-E1FA-CBF1-EB8C04608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2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E460-E7F8-2E95-A797-34ED21E05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3796"/>
            <a:ext cx="12192000" cy="61442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subquery</a:t>
            </a:r>
            <a:r>
              <a:rPr lang="en-US" dirty="0"/>
              <a:t> (or </a:t>
            </a:r>
            <a:r>
              <a:rPr lang="en-US" b="1" dirty="0"/>
              <a:t>nested query</a:t>
            </a:r>
            <a:r>
              <a:rPr lang="en-US" dirty="0"/>
              <a:t>) in MySQL is a query </a:t>
            </a:r>
            <a:r>
              <a:rPr lang="en-US" b="1" dirty="0"/>
              <a:t>inside another query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used to </a:t>
            </a:r>
            <a:r>
              <a:rPr lang="en-US" b="1" dirty="0"/>
              <a:t>fetch data that will be used by the main (outer) query</a:t>
            </a:r>
            <a:r>
              <a:rPr lang="en-US" dirty="0"/>
              <a:t> for filtering, comparison, or aggregation.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subquery</a:t>
            </a:r>
            <a:r>
              <a:rPr lang="en-US" dirty="0"/>
              <a:t> is a query </a:t>
            </a:r>
            <a:r>
              <a:rPr lang="en-US" b="1" dirty="0"/>
              <a:t>embedded within</a:t>
            </a:r>
            <a:r>
              <a:rPr lang="en-US" dirty="0"/>
              <a:t> another SQL query (like SELECT, INSERT, UPDATE, or DELETE).</a:t>
            </a:r>
          </a:p>
          <a:p>
            <a:r>
              <a:rPr lang="en-US" dirty="0"/>
              <a:t>It is enclosed within </a:t>
            </a:r>
            <a:r>
              <a:rPr lang="en-US" b="1" dirty="0"/>
              <a:t>parentheses ( )</a:t>
            </a:r>
            <a:r>
              <a:rPr lang="en-US" dirty="0"/>
              <a:t> and returns </a:t>
            </a:r>
            <a:r>
              <a:rPr lang="en-US" b="1" dirty="0"/>
              <a:t>data to the outer query</a:t>
            </a:r>
            <a:r>
              <a:rPr lang="en-US" dirty="0"/>
              <a:t>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column_name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column_name</a:t>
            </a:r>
            <a:r>
              <a:rPr lang="en-US" dirty="0"/>
              <a:t> OPERATOR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column_name</a:t>
            </a:r>
            <a:r>
              <a:rPr lang="en-US" dirty="0"/>
              <a:t> FROM </a:t>
            </a:r>
            <a:r>
              <a:rPr lang="en-US" dirty="0" err="1"/>
              <a:t>another_table</a:t>
            </a:r>
            <a:r>
              <a:rPr lang="en-US" dirty="0"/>
              <a:t> WHERE condition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20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5993-CCE6-D3FA-B9F6-E2848EBD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282" y="0"/>
            <a:ext cx="10515600" cy="1325563"/>
          </a:xfrm>
        </p:spPr>
        <p:txBody>
          <a:bodyPr/>
          <a:lstStyle/>
          <a:p>
            <a:r>
              <a:rPr lang="en-IN" b="1" dirty="0"/>
              <a:t>Types of Subqueries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496898-8E00-D590-F90E-621FA288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97" y="1661416"/>
            <a:ext cx="10068012" cy="37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2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F23C4-D393-D4F2-926D-4F472EA1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045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B15AE-CA28-1E8E-490C-F699D701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882"/>
            <a:ext cx="12191999" cy="603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2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F7A8-D694-56E6-8332-F5800284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809" y="2948492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Types of Subqueries with Examples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2471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1190-4B40-5F86-02EA-F506C3762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56"/>
            <a:ext cx="10515600" cy="927318"/>
          </a:xfrm>
        </p:spPr>
        <p:txBody>
          <a:bodyPr/>
          <a:lstStyle/>
          <a:p>
            <a:r>
              <a:rPr lang="en-IN" dirty="0"/>
              <a:t>✅ (a) </a:t>
            </a:r>
            <a:r>
              <a:rPr lang="en-IN" b="1" dirty="0"/>
              <a:t>Single-Row Subquery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0CD94-534E-62FF-2CBE-21A1B2E7E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employees who earn </a:t>
            </a:r>
            <a:r>
              <a:rPr lang="en-US" b="1" dirty="0"/>
              <a:t>more than the average salary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name, salary</a:t>
            </a:r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WHERE salary &gt; (SELECT AVG(salary) FROM employees);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Output:</a:t>
            </a:r>
            <a:r>
              <a:rPr lang="en-US" dirty="0"/>
              <a:t> Employees with salary above the average.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507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BC75-41F4-6C09-EF65-16BA9E73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964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✅ (b) </a:t>
            </a:r>
            <a:r>
              <a:rPr lang="en-IN" b="1" dirty="0"/>
              <a:t>Multi-Row Subquery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43FC-6B15-F571-3C5C-D793478C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0" y="1253331"/>
            <a:ext cx="11620501" cy="4351338"/>
          </a:xfrm>
        </p:spPr>
        <p:txBody>
          <a:bodyPr/>
          <a:lstStyle/>
          <a:p>
            <a:r>
              <a:rPr lang="en-US" dirty="0"/>
              <a:t>Find employees who work in departments </a:t>
            </a:r>
            <a:r>
              <a:rPr lang="en-US" b="1" dirty="0"/>
              <a:t>located in Bangalore or Mumbai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name, department</a:t>
            </a:r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WHERE department IN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dept_name</a:t>
            </a:r>
            <a:r>
              <a:rPr lang="en-US" dirty="0"/>
              <a:t> FROM departments WHERE location IN ('Bangalore', 'Mumbai')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641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B6CD-F667-2B1D-88C1-4AB6B66F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781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✅ (c) </a:t>
            </a:r>
            <a:r>
              <a:rPr lang="en-IN" b="1" dirty="0"/>
              <a:t>Correlated Subquery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D421E-DA60-B947-7318-FB4F71681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0" y="1162843"/>
            <a:ext cx="1202920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subquery that runs </a:t>
            </a:r>
            <a:r>
              <a:rPr lang="en-US" b="1" dirty="0"/>
              <a:t>once for each row</a:t>
            </a:r>
            <a:r>
              <a:rPr lang="en-US" dirty="0"/>
              <a:t> in the outer query.</a:t>
            </a:r>
          </a:p>
          <a:p>
            <a:r>
              <a:rPr lang="en-US" dirty="0"/>
              <a:t>Find employees who earn </a:t>
            </a:r>
            <a:r>
              <a:rPr lang="en-US" b="1" dirty="0"/>
              <a:t>more than the average salary in their own department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e1.name, e1.department, e1.salary</a:t>
            </a:r>
          </a:p>
          <a:p>
            <a:pPr marL="0" indent="0">
              <a:buNone/>
            </a:pPr>
            <a:r>
              <a:rPr lang="en-US" dirty="0"/>
              <a:t>FROM employees e1</a:t>
            </a:r>
          </a:p>
          <a:p>
            <a:pPr marL="0" indent="0">
              <a:buNone/>
            </a:pPr>
            <a:r>
              <a:rPr lang="en-US" dirty="0"/>
              <a:t>WHERE e1.salary &gt; (</a:t>
            </a:r>
          </a:p>
          <a:p>
            <a:pPr marL="0" indent="0">
              <a:buNone/>
            </a:pPr>
            <a:r>
              <a:rPr lang="en-US" dirty="0"/>
              <a:t>    SELECT AVG(e2.salary)</a:t>
            </a:r>
          </a:p>
          <a:p>
            <a:pPr marL="0" indent="0">
              <a:buNone/>
            </a:pPr>
            <a:r>
              <a:rPr lang="en-US" dirty="0"/>
              <a:t>    FROM employees e2</a:t>
            </a:r>
          </a:p>
          <a:p>
            <a:pPr marL="0" indent="0">
              <a:buNone/>
            </a:pPr>
            <a:r>
              <a:rPr lang="en-US" dirty="0"/>
              <a:t>    WHERE e1.department = e2.department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50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E022-5261-0119-2643-27C7F3BC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936" y="18255"/>
            <a:ext cx="10515600" cy="761063"/>
          </a:xfrm>
        </p:spPr>
        <p:txBody>
          <a:bodyPr/>
          <a:lstStyle/>
          <a:p>
            <a:r>
              <a:rPr lang="en-IN" dirty="0"/>
              <a:t>✅ (d) </a:t>
            </a:r>
            <a:r>
              <a:rPr lang="en-IN" b="1" dirty="0"/>
              <a:t>Subquery with EXISTS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2CE77-199D-4A77-FCD3-A6E71C416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if there are any employees in the IT department.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departments d</a:t>
            </a:r>
          </a:p>
          <a:p>
            <a:pPr marL="0" indent="0">
              <a:buNone/>
            </a:pPr>
            <a:r>
              <a:rPr lang="en-US" dirty="0"/>
              <a:t>WHERE EXISTS (</a:t>
            </a:r>
          </a:p>
          <a:p>
            <a:pPr marL="0" indent="0">
              <a:buNone/>
            </a:pPr>
            <a:r>
              <a:rPr lang="en-US" dirty="0"/>
              <a:t>    SELECT 1 FROM employees e WHERE </a:t>
            </a:r>
            <a:r>
              <a:rPr lang="en-US" dirty="0" err="1"/>
              <a:t>e.department</a:t>
            </a:r>
            <a:r>
              <a:rPr lang="en-US" dirty="0"/>
              <a:t> = </a:t>
            </a:r>
            <a:r>
              <a:rPr lang="en-US" dirty="0" err="1"/>
              <a:t>d.dept_name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390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B630-AB13-89C7-6B36-70F3EC9D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445" y="1"/>
            <a:ext cx="10515600" cy="758536"/>
          </a:xfrm>
        </p:spPr>
        <p:txBody>
          <a:bodyPr/>
          <a:lstStyle/>
          <a:p>
            <a:r>
              <a:rPr lang="en-US" dirty="0"/>
              <a:t>✅ (e) </a:t>
            </a:r>
            <a:r>
              <a:rPr lang="en-US" b="1" dirty="0"/>
              <a:t>Subquery in FROM Clause</a:t>
            </a:r>
            <a:r>
              <a:rPr lang="en-US" dirty="0"/>
              <a:t> (Inline View)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B3A4A-BEED-8572-9B58-FA443779F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You can use a subquery as a </a:t>
            </a:r>
            <a:r>
              <a:rPr lang="en-US" b="1" dirty="0"/>
              <a:t>temporary table</a:t>
            </a:r>
            <a:r>
              <a:rPr lang="en-US" dirty="0"/>
              <a:t>.</a:t>
            </a:r>
          </a:p>
          <a:p>
            <a:r>
              <a:rPr lang="en-US" dirty="0"/>
              <a:t>Find departments with </a:t>
            </a:r>
            <a:r>
              <a:rPr lang="en-US" b="1" dirty="0"/>
              <a:t>average salary above 55,000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SELECT department, </a:t>
            </a:r>
            <a:r>
              <a:rPr lang="en-US" dirty="0" err="1"/>
              <a:t>avg_salary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(</a:t>
            </a:r>
          </a:p>
          <a:p>
            <a:pPr marL="0" indent="0">
              <a:buNone/>
            </a:pPr>
            <a:r>
              <a:rPr lang="en-US" dirty="0"/>
              <a:t>    SELECT department, AVG(salary) AS </a:t>
            </a:r>
            <a:r>
              <a:rPr lang="en-US" dirty="0" err="1"/>
              <a:t>avg_salary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employees</a:t>
            </a:r>
          </a:p>
          <a:p>
            <a:pPr marL="0" indent="0">
              <a:buNone/>
            </a:pPr>
            <a:r>
              <a:rPr lang="en-US" dirty="0"/>
              <a:t>    GROUP BY department</a:t>
            </a:r>
          </a:p>
          <a:p>
            <a:pPr marL="0" indent="0">
              <a:buNone/>
            </a:pPr>
            <a:r>
              <a:rPr lang="en-US" dirty="0"/>
              <a:t>) AS </a:t>
            </a:r>
            <a:r>
              <a:rPr lang="en-US" dirty="0" err="1"/>
              <a:t>dept_summary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avg_salary</a:t>
            </a:r>
            <a:r>
              <a:rPr lang="en-US" dirty="0"/>
              <a:t> &gt; 55000;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Output:</a:t>
            </a:r>
            <a:r>
              <a:rPr lang="en-IN" dirty="0"/>
              <a:t> IT department only.</a:t>
            </a:r>
          </a:p>
        </p:txBody>
      </p:sp>
    </p:spTree>
    <p:extLst>
      <p:ext uri="{BB962C8B-B14F-4D97-AF65-F5344CB8AC3E}">
        <p14:creationId xmlns:p14="http://schemas.microsoft.com/office/powerpoint/2010/main" val="2331168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3A88-80E3-9FF9-BA9F-D4AE216F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791" y="18255"/>
            <a:ext cx="10515600" cy="1325563"/>
          </a:xfrm>
        </p:spPr>
        <p:txBody>
          <a:bodyPr/>
          <a:lstStyle/>
          <a:p>
            <a:r>
              <a:rPr lang="en-IN" dirty="0"/>
              <a:t>✅ (f) </a:t>
            </a:r>
            <a:r>
              <a:rPr lang="en-IN" b="1" dirty="0"/>
              <a:t>Subquery with INSERT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8EEC-F613-9D7D-ADF9-8EDC1DBA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data based on another table: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high_earners</a:t>
            </a:r>
            <a:r>
              <a:rPr lang="en-US" dirty="0"/>
              <a:t> (</a:t>
            </a:r>
            <a:r>
              <a:rPr lang="en-US" dirty="0" err="1"/>
              <a:t>emp_id</a:t>
            </a:r>
            <a:r>
              <a:rPr lang="en-US" dirty="0"/>
              <a:t>, name, salary)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emp_id</a:t>
            </a:r>
            <a:r>
              <a:rPr lang="en-US" dirty="0"/>
              <a:t>, name, salary</a:t>
            </a:r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WHERE salary &gt; (SELECT AVG(salary) FROM employees);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166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95073-92B5-B87E-AB8C-0017EF4FF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209" y="0"/>
            <a:ext cx="10515600" cy="737755"/>
          </a:xfrm>
        </p:spPr>
        <p:txBody>
          <a:bodyPr/>
          <a:lstStyle/>
          <a:p>
            <a:r>
              <a:rPr lang="en-IN" dirty="0"/>
              <a:t>Operators Used with Subqueries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7C773-D7AA-09BD-5732-40554B16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6" y="1249230"/>
            <a:ext cx="10941627" cy="512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90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101799-C1CE-853C-B3AE-FB1EC867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3" y="820882"/>
            <a:ext cx="10692245" cy="510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2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FA69-332E-C6BD-E762-3653BFA6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882" y="2370571"/>
            <a:ext cx="10515600" cy="1325563"/>
          </a:xfrm>
        </p:spPr>
        <p:txBody>
          <a:bodyPr/>
          <a:lstStyle/>
          <a:p>
            <a:r>
              <a:rPr lang="en-IN" b="1" dirty="0"/>
              <a:t>MySQL  JOINS</a:t>
            </a:r>
          </a:p>
        </p:txBody>
      </p:sp>
    </p:spTree>
    <p:extLst>
      <p:ext uri="{BB962C8B-B14F-4D97-AF65-F5344CB8AC3E}">
        <p14:creationId xmlns:p14="http://schemas.microsoft.com/office/powerpoint/2010/main" val="1196570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4251-FED2-0683-151A-85D24DAA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73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Joins in MySQL?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A920-D145-959C-99E7-8C7BC353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5" y="1253331"/>
            <a:ext cx="11786755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JOIN</a:t>
            </a:r>
            <a:r>
              <a:rPr lang="en-US" dirty="0"/>
              <a:t> is used to </a:t>
            </a:r>
            <a:r>
              <a:rPr lang="en-US" b="1" dirty="0"/>
              <a:t>combine rows from two or more tables</a:t>
            </a:r>
            <a:r>
              <a:rPr lang="en-US" dirty="0"/>
              <a:t> based on a related column between them.</a:t>
            </a:r>
          </a:p>
          <a:p>
            <a:r>
              <a:rPr lang="en-US" dirty="0"/>
              <a:t>It helps you fetch </a:t>
            </a:r>
            <a:r>
              <a:rPr lang="en-US" b="1" dirty="0"/>
              <a:t>related data stored in multiple tables</a:t>
            </a:r>
            <a:r>
              <a:rPr lang="en-US" dirty="0"/>
              <a:t> (normalized database).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columns</a:t>
            </a:r>
          </a:p>
          <a:p>
            <a:pPr marL="0" indent="0">
              <a:buNone/>
            </a:pPr>
            <a:r>
              <a:rPr lang="en-US" dirty="0"/>
              <a:t>FROM table1</a:t>
            </a:r>
          </a:p>
          <a:p>
            <a:pPr marL="0" indent="0">
              <a:buNone/>
            </a:pPr>
            <a:r>
              <a:rPr lang="en-US" dirty="0"/>
              <a:t>JOIN table2</a:t>
            </a:r>
          </a:p>
          <a:p>
            <a:pPr marL="0" indent="0">
              <a:buNone/>
            </a:pPr>
            <a:r>
              <a:rPr lang="en-US" dirty="0"/>
              <a:t>ON table1.common_column = table2.common_column;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662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818D-829E-F4D6-B2CC-B34769C86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63" y="1"/>
            <a:ext cx="10515600" cy="935182"/>
          </a:xfrm>
        </p:spPr>
        <p:txBody>
          <a:bodyPr/>
          <a:lstStyle/>
          <a:p>
            <a:r>
              <a:rPr lang="en-IN" dirty="0"/>
              <a:t>Example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503AA-F68A-891F-2322-27763DD5F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7" y="1041672"/>
            <a:ext cx="11087098" cy="542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1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AD32-095F-8093-09C9-1847FB7A5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936" y="18255"/>
            <a:ext cx="10515600" cy="740281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Types of Joins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B933F-C3E4-1358-E554-B4338E25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36" y="1132609"/>
            <a:ext cx="11305309" cy="541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12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A277-40E7-2D7E-E829-2484EE336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609" y="0"/>
            <a:ext cx="10515600" cy="883227"/>
          </a:xfrm>
        </p:spPr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a) INNER JOIN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37616-A8BF-3EC1-F15B-31217EB93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0" y="1077480"/>
            <a:ext cx="12171219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i="1" dirty="0"/>
              <a:t>SELECT e.name, </a:t>
            </a:r>
            <a:r>
              <a:rPr lang="en-IN" b="1" i="1" dirty="0" err="1"/>
              <a:t>e.salary</a:t>
            </a:r>
            <a:r>
              <a:rPr lang="en-IN" b="1" i="1" dirty="0"/>
              <a:t>, </a:t>
            </a:r>
            <a:r>
              <a:rPr lang="en-IN" b="1" i="1" dirty="0" err="1"/>
              <a:t>d.dept_name</a:t>
            </a:r>
            <a:r>
              <a:rPr lang="en-IN" b="1" i="1" dirty="0"/>
              <a:t>, </a:t>
            </a:r>
            <a:r>
              <a:rPr lang="en-IN" b="1" i="1" dirty="0" err="1"/>
              <a:t>d.location</a:t>
            </a:r>
            <a:endParaRPr lang="en-IN" b="1" i="1" dirty="0"/>
          </a:p>
          <a:p>
            <a:pPr marL="0" indent="0">
              <a:buNone/>
            </a:pPr>
            <a:r>
              <a:rPr lang="en-IN" b="1" i="1" dirty="0"/>
              <a:t>FROM employees e</a:t>
            </a:r>
          </a:p>
          <a:p>
            <a:pPr marL="0" indent="0">
              <a:buNone/>
            </a:pPr>
            <a:r>
              <a:rPr lang="en-IN" b="1" i="1" dirty="0"/>
              <a:t>INNER JOIN departments d</a:t>
            </a:r>
          </a:p>
          <a:p>
            <a:pPr marL="0" indent="0">
              <a:buNone/>
            </a:pPr>
            <a:r>
              <a:rPr lang="en-IN" b="1" i="1" dirty="0"/>
              <a:t>ON </a:t>
            </a:r>
            <a:r>
              <a:rPr lang="en-IN" b="1" i="1" dirty="0" err="1"/>
              <a:t>e.dept_id</a:t>
            </a:r>
            <a:r>
              <a:rPr lang="en-IN" b="1" i="1" dirty="0"/>
              <a:t> = </a:t>
            </a:r>
            <a:r>
              <a:rPr lang="en-IN" b="1" i="1" dirty="0" err="1"/>
              <a:t>d.dept_id</a:t>
            </a:r>
            <a:r>
              <a:rPr lang="en-IN" b="1" i="1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49A64-C7F0-A791-BB30-98D97D00F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82" y="1979364"/>
            <a:ext cx="6872815" cy="45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85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21AD-A112-7F84-A268-608A2AFD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282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✅ </a:t>
            </a:r>
            <a:r>
              <a:rPr lang="en-IN" b="1" dirty="0"/>
              <a:t>b) LEFT JOIN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1213-0A83-7814-B270-53C16708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18" y="1025525"/>
            <a:ext cx="627957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Returns </a:t>
            </a:r>
            <a:r>
              <a:rPr lang="en-US" b="1" dirty="0"/>
              <a:t>all rows from the left table</a:t>
            </a:r>
            <a:r>
              <a:rPr lang="en-US" dirty="0"/>
              <a:t> (employees) and matching rows from right table (departments).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i="1" dirty="0">
                <a:highlight>
                  <a:srgbClr val="FFFF00"/>
                </a:highlight>
              </a:rPr>
              <a:t>SELECT e.name, </a:t>
            </a:r>
            <a:r>
              <a:rPr lang="en-US" b="1" i="1" dirty="0" err="1">
                <a:highlight>
                  <a:srgbClr val="FFFF00"/>
                </a:highlight>
              </a:rPr>
              <a:t>e.salary</a:t>
            </a:r>
            <a:r>
              <a:rPr lang="en-US" b="1" i="1" dirty="0">
                <a:highlight>
                  <a:srgbClr val="FFFF00"/>
                </a:highlight>
              </a:rPr>
              <a:t>, </a:t>
            </a:r>
            <a:r>
              <a:rPr lang="en-US" b="1" i="1" dirty="0" err="1">
                <a:highlight>
                  <a:srgbClr val="FFFF00"/>
                </a:highlight>
              </a:rPr>
              <a:t>d.dept_name</a:t>
            </a:r>
            <a:r>
              <a:rPr lang="en-US" b="1" i="1" dirty="0">
                <a:highlight>
                  <a:srgbClr val="FFFF00"/>
                </a:highlight>
              </a:rPr>
              <a:t>, </a:t>
            </a:r>
            <a:r>
              <a:rPr lang="en-US" b="1" i="1" dirty="0" err="1">
                <a:highlight>
                  <a:srgbClr val="FFFF00"/>
                </a:highlight>
              </a:rPr>
              <a:t>d.location</a:t>
            </a:r>
            <a:endParaRPr lang="en-US" b="1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i="1" dirty="0">
                <a:highlight>
                  <a:srgbClr val="FFFF00"/>
                </a:highlight>
              </a:rPr>
              <a:t>FROM employees e</a:t>
            </a:r>
          </a:p>
          <a:p>
            <a:pPr marL="0" indent="0">
              <a:buNone/>
            </a:pPr>
            <a:r>
              <a:rPr lang="en-US" b="1" i="1" dirty="0">
                <a:highlight>
                  <a:srgbClr val="FFFF00"/>
                </a:highlight>
              </a:rPr>
              <a:t>LEFT JOIN departments d</a:t>
            </a:r>
          </a:p>
          <a:p>
            <a:pPr marL="0" indent="0">
              <a:buNone/>
            </a:pPr>
            <a:r>
              <a:rPr lang="en-US" b="1" i="1" dirty="0">
                <a:highlight>
                  <a:srgbClr val="FFFF00"/>
                </a:highlight>
              </a:rPr>
              <a:t>ON </a:t>
            </a:r>
            <a:r>
              <a:rPr lang="en-US" b="1" i="1" dirty="0" err="1">
                <a:highlight>
                  <a:srgbClr val="FFFF00"/>
                </a:highlight>
              </a:rPr>
              <a:t>e.dept_id</a:t>
            </a:r>
            <a:r>
              <a:rPr lang="en-US" b="1" i="1" dirty="0">
                <a:highlight>
                  <a:srgbClr val="FFFF00"/>
                </a:highlight>
              </a:rPr>
              <a:t> = </a:t>
            </a:r>
            <a:r>
              <a:rPr lang="en-US" b="1" i="1" dirty="0" err="1">
                <a:highlight>
                  <a:srgbClr val="FFFF00"/>
                </a:highlight>
              </a:rPr>
              <a:t>d.dept_id</a:t>
            </a:r>
            <a:r>
              <a:rPr lang="en-US" b="1" i="1" dirty="0">
                <a:highlight>
                  <a:srgbClr val="FFFF00"/>
                </a:highlight>
              </a:rPr>
              <a:t>;</a:t>
            </a:r>
          </a:p>
          <a:p>
            <a:pPr marL="0" indent="0">
              <a:buNone/>
            </a:pPr>
            <a:endParaRPr lang="en-US" b="1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dirty="0"/>
              <a:t>If an employee’s </a:t>
            </a:r>
            <a:r>
              <a:rPr lang="en-US" b="1" dirty="0" err="1"/>
              <a:t>dept_id</a:t>
            </a:r>
            <a:r>
              <a:rPr lang="en-US" b="1" dirty="0"/>
              <a:t> doesn’t match</a:t>
            </a:r>
            <a:r>
              <a:rPr lang="en-US" dirty="0"/>
              <a:t>, those rows will still appear with NULL values.</a:t>
            </a:r>
            <a:endParaRPr lang="en-IN" b="1" i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3D9B7-06EB-6B66-DB28-AA8508267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263" y="799871"/>
            <a:ext cx="5730737" cy="457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2C73-191E-2F2F-30EF-AC9FE9F4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77700" cy="768927"/>
          </a:xfrm>
        </p:spPr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d) FULL OUTER JOIN</a:t>
            </a:r>
            <a:r>
              <a:rPr lang="en-US" dirty="0"/>
              <a:t> </a:t>
            </a:r>
            <a:r>
              <a:rPr lang="en-US" sz="2800" i="1" dirty="0"/>
              <a:t>(MySQL doesn’t have directly — use UNION)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A022D-704C-8DF7-190A-AADE6223C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Returns </a:t>
            </a:r>
            <a:r>
              <a:rPr lang="en-US" b="1" dirty="0"/>
              <a:t>all rows from both tables</a:t>
            </a:r>
            <a:r>
              <a:rPr lang="en-US" dirty="0"/>
              <a:t>, matched or unmatched.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SELECT e.name, </a:t>
            </a:r>
            <a:r>
              <a:rPr lang="en-IN" dirty="0" err="1"/>
              <a:t>d.dept_name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employees e</a:t>
            </a:r>
          </a:p>
          <a:p>
            <a:pPr marL="0" indent="0">
              <a:buNone/>
            </a:pPr>
            <a:r>
              <a:rPr lang="en-IN" dirty="0"/>
              <a:t>LEFT JOIN departments d</a:t>
            </a:r>
          </a:p>
          <a:p>
            <a:pPr marL="0" indent="0">
              <a:buNone/>
            </a:pPr>
            <a:r>
              <a:rPr lang="en-IN" dirty="0"/>
              <a:t>ON </a:t>
            </a:r>
            <a:r>
              <a:rPr lang="en-IN" dirty="0" err="1"/>
              <a:t>e.dept_id</a:t>
            </a:r>
            <a:r>
              <a:rPr lang="en-IN" dirty="0"/>
              <a:t> = </a:t>
            </a:r>
            <a:r>
              <a:rPr lang="en-IN" dirty="0" err="1"/>
              <a:t>d.dept_id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UNION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SELECT e.name, </a:t>
            </a:r>
            <a:r>
              <a:rPr lang="en-IN" dirty="0" err="1"/>
              <a:t>d.dept_name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employees e</a:t>
            </a:r>
          </a:p>
          <a:p>
            <a:pPr marL="0" indent="0">
              <a:buNone/>
            </a:pPr>
            <a:r>
              <a:rPr lang="en-IN" dirty="0"/>
              <a:t>RIGHT JOIN departments d</a:t>
            </a:r>
          </a:p>
          <a:p>
            <a:pPr marL="0" indent="0">
              <a:buNone/>
            </a:pPr>
            <a:r>
              <a:rPr lang="en-IN" dirty="0"/>
              <a:t>ON </a:t>
            </a:r>
            <a:r>
              <a:rPr lang="en-IN" dirty="0" err="1"/>
              <a:t>e.dept_id</a:t>
            </a:r>
            <a:r>
              <a:rPr lang="en-IN" dirty="0"/>
              <a:t> = </a:t>
            </a:r>
            <a:r>
              <a:rPr lang="en-IN" dirty="0" err="1"/>
              <a:t>d.dept_id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033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4F97-EC25-1167-C23B-CB61037F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e) CROSS JOIN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0BB4-474D-4C69-4FD0-105114DA0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Returns </a:t>
            </a:r>
            <a:r>
              <a:rPr lang="en-US" b="1" dirty="0"/>
              <a:t>every possible combination</a:t>
            </a:r>
            <a:r>
              <a:rPr lang="en-US" dirty="0"/>
              <a:t> of both tables.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e.name, </a:t>
            </a:r>
            <a:r>
              <a:rPr lang="en-US" dirty="0" err="1"/>
              <a:t>d.dept_name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</a:t>
            </a:r>
          </a:p>
          <a:p>
            <a:pPr marL="0" indent="0">
              <a:buNone/>
            </a:pPr>
            <a:r>
              <a:rPr lang="en-US" dirty="0"/>
              <a:t>CROSS JOIN departments 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employees has 5 rows and departments has 4 rows → </a:t>
            </a:r>
            <a:r>
              <a:rPr lang="en-US" b="1" dirty="0"/>
              <a:t>5 × 4 = 20</a:t>
            </a:r>
            <a:r>
              <a:rPr lang="en-US" dirty="0"/>
              <a:t>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821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7EC4-A5CC-FACC-3249-42A1F2A8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082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✅ </a:t>
            </a:r>
            <a:r>
              <a:rPr lang="en-IN" b="1" dirty="0"/>
              <a:t>f) SELF JOIN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8EC37-FD18-B985-EA96-47C2E441B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44588"/>
            <a:ext cx="1185602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Table joined with itself — useful for hierarchical data.</a:t>
            </a:r>
          </a:p>
          <a:p>
            <a:endParaRPr lang="en-US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Find employees who earn </a:t>
            </a:r>
            <a:r>
              <a:rPr lang="en-US" b="1" dirty="0"/>
              <a:t>more than another employee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e1.name AS Employee, e2.name AS </a:t>
            </a:r>
            <a:r>
              <a:rPr lang="en-US" dirty="0" err="1"/>
              <a:t>Lower_Paid_Employee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e1</a:t>
            </a:r>
          </a:p>
          <a:p>
            <a:pPr marL="0" indent="0">
              <a:buNone/>
            </a:pPr>
            <a:r>
              <a:rPr lang="en-US" dirty="0"/>
              <a:t>JOIN employees e2</a:t>
            </a:r>
          </a:p>
          <a:p>
            <a:pPr marL="0" indent="0">
              <a:buNone/>
            </a:pPr>
            <a:r>
              <a:rPr lang="en-US" dirty="0"/>
              <a:t>ON e1.salary &gt; e2.salary;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160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D98DC7-55AA-916A-E0B7-2B24A299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654627"/>
            <a:ext cx="10588336" cy="547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90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8FCC-E633-35CC-CD0F-ECE2BEE6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809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Joins with WHERE vs ON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9126B-85A2-D30F-B9EE-3CAD9943A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3330"/>
            <a:ext cx="10515600" cy="56046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These two are </a:t>
            </a:r>
            <a:r>
              <a:rPr lang="en-US" b="1" dirty="0"/>
              <a:t>not always the same</a:t>
            </a:r>
            <a:r>
              <a:rPr lang="en-US" dirty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-- Using ON (preferred)</a:t>
            </a:r>
          </a:p>
          <a:p>
            <a:pPr marL="0" indent="0">
              <a:buNone/>
            </a:pPr>
            <a:r>
              <a:rPr lang="en-US" dirty="0"/>
              <a:t>SELECT * FROM employees e</a:t>
            </a:r>
          </a:p>
          <a:p>
            <a:pPr marL="0" indent="0">
              <a:buNone/>
            </a:pPr>
            <a:r>
              <a:rPr lang="en-US" dirty="0"/>
              <a:t>LEFT JOIN departments d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 AND </a:t>
            </a:r>
            <a:r>
              <a:rPr lang="en-US" dirty="0" err="1"/>
              <a:t>d.location</a:t>
            </a:r>
            <a:r>
              <a:rPr lang="en-US" dirty="0"/>
              <a:t> = 'Delhi';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-- Using WHERE (filters after join)</a:t>
            </a:r>
          </a:p>
          <a:p>
            <a:pPr marL="0" indent="0">
              <a:buNone/>
            </a:pPr>
            <a:r>
              <a:rPr lang="en-US" dirty="0"/>
              <a:t>SELECT * FROM employees e</a:t>
            </a:r>
          </a:p>
          <a:p>
            <a:pPr marL="0" indent="0">
              <a:buNone/>
            </a:pPr>
            <a:r>
              <a:rPr lang="en-US" dirty="0"/>
              <a:t>LEFT JOIN departments d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d.location</a:t>
            </a:r>
            <a:r>
              <a:rPr lang="en-US" dirty="0"/>
              <a:t> = 'Delhi’;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first keeps unmatched employees (with NULLs),</a:t>
            </a:r>
            <a:br>
              <a:rPr lang="en-US" dirty="0"/>
            </a:br>
            <a:r>
              <a:rPr lang="en-US" dirty="0"/>
              <a:t>the second </a:t>
            </a:r>
            <a:r>
              <a:rPr lang="en-US" b="1" dirty="0"/>
              <a:t>filters them out</a:t>
            </a:r>
            <a:r>
              <a:rPr lang="en-US" dirty="0"/>
              <a:t>, acting like an INNER JOIN.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437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ADD98D-196F-B556-DC78-63BAC1DD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" y="467591"/>
            <a:ext cx="11222181" cy="583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7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A050-3446-CD95-F30F-006B40F1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609" y="-72737"/>
            <a:ext cx="10515600" cy="1325563"/>
          </a:xfrm>
        </p:spPr>
        <p:txBody>
          <a:bodyPr/>
          <a:lstStyle/>
          <a:p>
            <a:r>
              <a:rPr lang="en-US" b="1" dirty="0"/>
              <a:t>Equi Join</a:t>
            </a:r>
            <a:r>
              <a:rPr lang="en-US" dirty="0"/>
              <a:t> and </a:t>
            </a:r>
            <a:r>
              <a:rPr lang="en-US" b="1" dirty="0"/>
              <a:t>Theta Join</a:t>
            </a:r>
            <a:r>
              <a:rPr lang="en-US" dirty="0"/>
              <a:t> in MySQL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EDE2E-6552-C3E4-3CC8-71740A17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" y="1252826"/>
            <a:ext cx="10515600" cy="4351338"/>
          </a:xfrm>
        </p:spPr>
        <p:txBody>
          <a:bodyPr/>
          <a:lstStyle/>
          <a:p>
            <a:r>
              <a:rPr lang="en-US" dirty="0"/>
              <a:t>What Are Equi Join and Theta Join?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B3E774-7D30-341C-376A-9A50A20AA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34" y="2194445"/>
            <a:ext cx="10609721" cy="246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84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008B-E82E-A76B-65A6-FF6340C5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3EC1-6CED-B99C-0823-7AFC956D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Equi Join</a:t>
            </a:r>
            <a:r>
              <a:rPr lang="en-US" dirty="0"/>
              <a:t> combines rows from two or more tables </a:t>
            </a:r>
            <a:r>
              <a:rPr lang="en-US" b="1" dirty="0"/>
              <a:t>where the join condition uses =</a:t>
            </a:r>
            <a:r>
              <a:rPr lang="en-US" dirty="0"/>
              <a:t> (equality).</a:t>
            </a:r>
          </a:p>
          <a:p>
            <a:r>
              <a:rPr lang="en-US" dirty="0"/>
              <a:t>It is the </a:t>
            </a:r>
            <a:r>
              <a:rPr lang="en-US" b="1" dirty="0"/>
              <a:t>most common</a:t>
            </a:r>
            <a:r>
              <a:rPr lang="en-US" dirty="0"/>
              <a:t> and is used internally by </a:t>
            </a:r>
            <a:r>
              <a:rPr lang="en-US" b="1" dirty="0"/>
              <a:t>INNER JOIN</a:t>
            </a:r>
            <a:r>
              <a:rPr lang="en-US" dirty="0"/>
              <a:t> and </a:t>
            </a:r>
            <a:r>
              <a:rPr lang="en-US" b="1" dirty="0"/>
              <a:t>NATURAL JOIN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302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1D17DE-9876-6ED4-461F-5DCDED82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8" y="103909"/>
            <a:ext cx="11544300" cy="64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90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0AB5-A05F-70F3-86CE-9AB57336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118" y="0"/>
            <a:ext cx="10515600" cy="789709"/>
          </a:xfrm>
        </p:spPr>
        <p:txBody>
          <a:bodyPr/>
          <a:lstStyle/>
          <a:p>
            <a:r>
              <a:rPr lang="en-IN" dirty="0"/>
              <a:t>Query Using Equi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71ECA-1A1C-EBB5-1C7C-8F0F3B5E7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1" y="88005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e.emp_id</a:t>
            </a:r>
            <a:r>
              <a:rPr lang="en-US" dirty="0"/>
              <a:t>, e.name, </a:t>
            </a:r>
            <a:r>
              <a:rPr lang="en-US" dirty="0" err="1"/>
              <a:t>d.dept_name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e, departments d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e.emp_id</a:t>
            </a:r>
            <a:r>
              <a:rPr lang="en-US" dirty="0"/>
              <a:t>, e.name, </a:t>
            </a:r>
            <a:r>
              <a:rPr lang="en-US" dirty="0" err="1"/>
              <a:t>d.dept_name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</a:t>
            </a:r>
          </a:p>
          <a:p>
            <a:pPr marL="0" indent="0">
              <a:buNone/>
            </a:pPr>
            <a:r>
              <a:rPr lang="en-US" dirty="0"/>
              <a:t>INNER JOIN departments d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BC7B5-0DBC-5AF8-6F46-2C7BB41A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946" y="970395"/>
            <a:ext cx="61498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4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C376-7378-9D03-3C37-9D5AABBB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THETA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56382-4BAD-D783-1904-309039BA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Theta Join</a:t>
            </a:r>
            <a:r>
              <a:rPr lang="en-US" dirty="0"/>
              <a:t> is a more general form — it allows </a:t>
            </a:r>
            <a:r>
              <a:rPr lang="en-US" b="1" dirty="0"/>
              <a:t>any comparison operator</a:t>
            </a:r>
            <a:r>
              <a:rPr lang="en-US" dirty="0"/>
              <a:t> (=, &lt;, &gt;, &lt;=, &gt;=, !=).</a:t>
            </a:r>
          </a:p>
          <a:p>
            <a:r>
              <a:rPr lang="en-US" dirty="0"/>
              <a:t>That means </a:t>
            </a:r>
            <a:r>
              <a:rPr lang="en-US" b="1" dirty="0"/>
              <a:t>Equi Join is a special case of Theta Join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640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3757-C143-7813-1444-B0D63A4D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Using &gt; operator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FDB1D-3059-B97C-A06B-B8F3BE7BD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628" y="2305697"/>
            <a:ext cx="8344844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38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D0D9-1ACC-8BE7-83C8-666DB709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84418"/>
          </a:xfrm>
        </p:spPr>
        <p:txBody>
          <a:bodyPr>
            <a:normAutofit fontScale="90000"/>
          </a:bodyPr>
          <a:lstStyle/>
          <a:p>
            <a:r>
              <a:rPr lang="en-IN" dirty="0"/>
              <a:t>Theta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3CFB3-864C-1E93-B5B6-1701E0705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4" y="602674"/>
            <a:ext cx="1237903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e.name, </a:t>
            </a:r>
            <a:r>
              <a:rPr lang="en-US" dirty="0" err="1"/>
              <a:t>e.salary</a:t>
            </a:r>
            <a:r>
              <a:rPr lang="en-US" dirty="0"/>
              <a:t>, </a:t>
            </a:r>
            <a:r>
              <a:rPr lang="en-US" dirty="0" err="1"/>
              <a:t>g.grade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e, grades g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e.salary</a:t>
            </a:r>
            <a:r>
              <a:rPr lang="en-US" dirty="0"/>
              <a:t> &gt; </a:t>
            </a:r>
            <a:r>
              <a:rPr lang="en-US" dirty="0" err="1"/>
              <a:t>g.min_salary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462D3-C968-01E4-3859-AC8B5D45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545" y="840825"/>
            <a:ext cx="6920345" cy="57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48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015216-6912-8641-F81C-74808E225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" y="467591"/>
            <a:ext cx="11357264" cy="601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26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0798A-F23B-22C8-8B94-D4A147497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64" y="1825625"/>
            <a:ext cx="117729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b="1" dirty="0"/>
              <a:t>MySQL</a:t>
            </a:r>
            <a:r>
              <a:rPr lang="en-US" dirty="0"/>
              <a:t>, the following are </a:t>
            </a:r>
            <a:r>
              <a:rPr lang="en-US" b="1" i="1" dirty="0"/>
              <a:t>internally Equi Joins</a:t>
            </a:r>
            <a:r>
              <a:rPr lang="en-US" dirty="0"/>
              <a:t>:</a:t>
            </a:r>
          </a:p>
          <a:p>
            <a:r>
              <a:rPr lang="en-US" dirty="0"/>
              <a:t>INNER JOIN</a:t>
            </a:r>
          </a:p>
          <a:p>
            <a:r>
              <a:rPr lang="en-US" dirty="0"/>
              <a:t>LEFT JOIN</a:t>
            </a:r>
          </a:p>
          <a:p>
            <a:r>
              <a:rPr lang="en-US" dirty="0"/>
              <a:t>RIGHT JOIN</a:t>
            </a:r>
          </a:p>
          <a:p>
            <a:r>
              <a:rPr lang="en-US" dirty="0"/>
              <a:t>NATURAL JOIN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Theta joins are </a:t>
            </a:r>
            <a:r>
              <a:rPr lang="en-US" b="1" dirty="0"/>
              <a:t>custom joins</a:t>
            </a:r>
            <a:r>
              <a:rPr lang="en-US" dirty="0"/>
              <a:t> where you specify your own logical comparison condition.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58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D774-D9E9-122E-B6D0-955314AA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072" y="0"/>
            <a:ext cx="10515600" cy="60267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ACID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CAAE4-ABFE-6E0D-01BC-D7FF3B16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8261"/>
            <a:ext cx="11156373" cy="563504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ACID</a:t>
            </a:r>
            <a:r>
              <a:rPr lang="en-US" dirty="0"/>
              <a:t> stands for:</a:t>
            </a:r>
            <a:br>
              <a:rPr lang="en-US" dirty="0"/>
            </a:br>
            <a:r>
              <a:rPr lang="en-US" b="1" dirty="0"/>
              <a:t>A</a:t>
            </a:r>
            <a:r>
              <a:rPr lang="en-US" dirty="0"/>
              <a:t>tomicity, </a:t>
            </a:r>
            <a:r>
              <a:rPr lang="en-US" b="1" dirty="0"/>
              <a:t>C</a:t>
            </a:r>
            <a:r>
              <a:rPr lang="en-US" dirty="0"/>
              <a:t>onsistency, </a:t>
            </a:r>
            <a:r>
              <a:rPr lang="en-US" b="1" dirty="0"/>
              <a:t>I</a:t>
            </a:r>
            <a:r>
              <a:rPr lang="en-US" dirty="0"/>
              <a:t>solation, and </a:t>
            </a:r>
            <a:r>
              <a:rPr lang="en-US" b="1" dirty="0"/>
              <a:t>D</a:t>
            </a:r>
            <a:r>
              <a:rPr lang="en-US" dirty="0"/>
              <a:t>urability.</a:t>
            </a:r>
          </a:p>
          <a:p>
            <a:r>
              <a:rPr lang="en-US" dirty="0"/>
              <a:t>These are the </a:t>
            </a:r>
            <a:r>
              <a:rPr lang="en-US" b="1" dirty="0"/>
              <a:t>core principles</a:t>
            </a:r>
            <a:r>
              <a:rPr lang="en-US" dirty="0"/>
              <a:t> that ensure </a:t>
            </a:r>
            <a:r>
              <a:rPr lang="en-US" b="1" dirty="0"/>
              <a:t>reliable transaction processing</a:t>
            </a:r>
            <a:r>
              <a:rPr lang="en-US" dirty="0"/>
              <a:t> in databases.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What Is a Transaction?</a:t>
            </a:r>
          </a:p>
          <a:p>
            <a:endParaRPr lang="en-IN" dirty="0"/>
          </a:p>
          <a:p>
            <a:r>
              <a:rPr lang="en-US" dirty="0"/>
              <a:t>A </a:t>
            </a:r>
            <a:r>
              <a:rPr lang="en-US" b="1" dirty="0"/>
              <a:t>transaction</a:t>
            </a:r>
            <a:r>
              <a:rPr lang="en-US" dirty="0"/>
              <a:t> is a </a:t>
            </a:r>
            <a:r>
              <a:rPr lang="en-US" b="1" dirty="0"/>
              <a:t>logical unit of work</a:t>
            </a:r>
            <a:r>
              <a:rPr lang="en-US" dirty="0"/>
              <a:t> — one or more SQL statements executed together.</a:t>
            </a:r>
            <a:br>
              <a:rPr lang="en-US" dirty="0"/>
            </a:br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START TRANSACTION;</a:t>
            </a:r>
          </a:p>
          <a:p>
            <a:r>
              <a:rPr lang="en-US" dirty="0"/>
              <a:t>UPDATE accounts SET balance = balance - 5000 WHERE </a:t>
            </a:r>
            <a:r>
              <a:rPr lang="en-US" dirty="0" err="1"/>
              <a:t>acc_no</a:t>
            </a:r>
            <a:r>
              <a:rPr lang="en-US" dirty="0"/>
              <a:t> = 101;</a:t>
            </a:r>
          </a:p>
          <a:p>
            <a:r>
              <a:rPr lang="en-US" dirty="0"/>
              <a:t>UPDATE accounts SET balance = balance + 5000 WHERE </a:t>
            </a:r>
            <a:r>
              <a:rPr lang="en-US" dirty="0" err="1"/>
              <a:t>acc_no</a:t>
            </a:r>
            <a:r>
              <a:rPr lang="en-US" dirty="0"/>
              <a:t> = 202;</a:t>
            </a:r>
          </a:p>
          <a:p>
            <a:r>
              <a:rPr lang="en-US" dirty="0"/>
              <a:t>COMMIT;</a:t>
            </a:r>
          </a:p>
          <a:p>
            <a:endParaRPr lang="en-US" dirty="0"/>
          </a:p>
          <a:p>
            <a:r>
              <a:rPr lang="en-US" dirty="0"/>
              <a:t>Either </a:t>
            </a:r>
            <a:r>
              <a:rPr lang="en-US" b="1" dirty="0"/>
              <a:t>both</a:t>
            </a:r>
            <a:r>
              <a:rPr lang="en-US" dirty="0"/>
              <a:t> statements succeed, or </a:t>
            </a:r>
            <a:r>
              <a:rPr lang="en-US" b="1" dirty="0"/>
              <a:t>none</a:t>
            </a:r>
            <a:r>
              <a:rPr lang="en-US" dirty="0"/>
              <a:t> — that’s the power of ACID.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9951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A538-F89E-85BA-1F20-8B198D00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09" y="105352"/>
            <a:ext cx="10515600" cy="819439"/>
          </a:xfrm>
        </p:spPr>
        <p:txBody>
          <a:bodyPr/>
          <a:lstStyle/>
          <a:p>
            <a:r>
              <a:rPr lang="en-IN" dirty="0"/>
              <a:t>The 4 ACID Properties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47EEA-A07B-C28E-83B4-82AD691E6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5" y="1270085"/>
            <a:ext cx="10650682" cy="481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2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1309-E77D-C7F1-014C-18929E88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664" y="0"/>
            <a:ext cx="10515600" cy="540327"/>
          </a:xfrm>
        </p:spPr>
        <p:txBody>
          <a:bodyPr>
            <a:normAutofit fontScale="90000"/>
          </a:bodyPr>
          <a:lstStyle/>
          <a:p>
            <a:r>
              <a:rPr lang="en-US" dirty="0"/>
              <a:t>A. Atomicity (All or Nothing)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4E4C0-EDDD-F503-8682-F413106F4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9042"/>
            <a:ext cx="10515600" cy="55103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transaction must be </a:t>
            </a:r>
            <a:r>
              <a:rPr lang="en-US" b="1" dirty="0"/>
              <a:t>fully completed or fully rolled back</a:t>
            </a:r>
            <a:r>
              <a:rPr lang="en-US" dirty="0"/>
              <a:t>.</a:t>
            </a:r>
          </a:p>
          <a:p>
            <a:r>
              <a:rPr lang="en-US" dirty="0"/>
              <a:t>If one part fails, the entire transaction fails.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If you transfer ₹5000 from </a:t>
            </a:r>
            <a:r>
              <a:rPr lang="en-US" b="1" dirty="0"/>
              <a:t>Account A</a:t>
            </a:r>
            <a:r>
              <a:rPr lang="en-US" dirty="0"/>
              <a:t> to </a:t>
            </a:r>
            <a:r>
              <a:rPr lang="en-US" b="1" dirty="0"/>
              <a:t>Account B</a:t>
            </a:r>
            <a:r>
              <a:rPr lang="en-US" dirty="0"/>
              <a:t>:</a:t>
            </a:r>
          </a:p>
          <a:p>
            <a:r>
              <a:rPr lang="en-US" dirty="0"/>
              <a:t>Debit ₹5000 from A ✅</a:t>
            </a:r>
          </a:p>
          <a:p>
            <a:r>
              <a:rPr lang="en-US" dirty="0"/>
              <a:t>Credit ₹5000 to B ❌ (fails)</a:t>
            </a:r>
          </a:p>
          <a:p>
            <a:r>
              <a:rPr lang="en-US" dirty="0"/>
              <a:t>Then → </a:t>
            </a:r>
            <a:r>
              <a:rPr lang="en-US" b="1" dirty="0"/>
              <a:t>ROLLBACK</a:t>
            </a:r>
            <a:r>
              <a:rPr lang="en-US" dirty="0"/>
              <a:t>, so A’s money is not lost.</a:t>
            </a:r>
          </a:p>
          <a:p>
            <a:endParaRPr lang="en-US" dirty="0"/>
          </a:p>
          <a:p>
            <a:r>
              <a:rPr lang="en-US" dirty="0"/>
              <a:t>START TRANSACTION;</a:t>
            </a:r>
          </a:p>
          <a:p>
            <a:r>
              <a:rPr lang="en-US" dirty="0"/>
              <a:t>UPDATE accounts SET balance = balance - 5000 WHERE </a:t>
            </a:r>
            <a:r>
              <a:rPr lang="en-US" dirty="0" err="1"/>
              <a:t>acc_no</a:t>
            </a:r>
            <a:r>
              <a:rPr lang="en-US" dirty="0"/>
              <a:t> = 1;</a:t>
            </a:r>
          </a:p>
          <a:p>
            <a:r>
              <a:rPr lang="en-US" dirty="0"/>
              <a:t>UPDATE accounts SET balance = balance + 5000 WHERE </a:t>
            </a:r>
            <a:r>
              <a:rPr lang="en-US" dirty="0" err="1"/>
              <a:t>acc_no</a:t>
            </a:r>
            <a:r>
              <a:rPr lang="en-US" dirty="0"/>
              <a:t> = 2;</a:t>
            </a:r>
          </a:p>
          <a:p>
            <a:r>
              <a:rPr lang="en-US" dirty="0"/>
              <a:t>ROLLBACK;  -- if error occurs</a:t>
            </a:r>
          </a:p>
          <a:p>
            <a:r>
              <a:rPr lang="en-US" dirty="0"/>
              <a:t>COMMIT;    -- if success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0861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3395-03BF-2956-6E8B-99C37ED1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B.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4E4A9-2EE1-0AD5-6991-5CAD60670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transaction must bring the database </a:t>
            </a:r>
            <a:r>
              <a:rPr lang="en-US" b="1" dirty="0"/>
              <a:t>from one valid state to another</a:t>
            </a:r>
            <a:r>
              <a:rPr lang="en-US" dirty="0"/>
              <a:t>.</a:t>
            </a:r>
          </a:p>
          <a:p>
            <a:r>
              <a:rPr lang="en-US" dirty="0"/>
              <a:t>All </a:t>
            </a:r>
            <a:r>
              <a:rPr lang="en-US" b="1" dirty="0"/>
              <a:t>constraints, triggers, and data integrity rules</a:t>
            </a:r>
            <a:r>
              <a:rPr lang="en-US" dirty="0"/>
              <a:t> must hold true after the transaction.</a:t>
            </a:r>
          </a:p>
          <a:p>
            <a:r>
              <a:rPr lang="en-US" dirty="0"/>
              <a:t>🧩 </a:t>
            </a:r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Total money in system (A + B) must remain the same before and after transfer.</a:t>
            </a:r>
          </a:p>
          <a:p>
            <a:r>
              <a:rPr lang="en-US" dirty="0"/>
              <a:t>Primary keys, foreign keys, and data types remain valid.</a:t>
            </a:r>
          </a:p>
          <a:p>
            <a:r>
              <a:rPr lang="en-US" dirty="0"/>
              <a:t>💡 </a:t>
            </a:r>
            <a:r>
              <a:rPr lang="en-US" i="1" dirty="0"/>
              <a:t>No data rule is broken.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72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16FA-0639-FF71-7493-17F02338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837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🧠 </a:t>
            </a:r>
            <a:r>
              <a:rPr lang="en-IN" b="1" dirty="0"/>
              <a:t>C. Isolation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68B7-EB8D-3F69-CDF0-2F04D74F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4588"/>
            <a:ext cx="12022282" cy="5713412"/>
          </a:xfrm>
        </p:spPr>
        <p:txBody>
          <a:bodyPr>
            <a:normAutofit/>
          </a:bodyPr>
          <a:lstStyle/>
          <a:p>
            <a:r>
              <a:rPr lang="en-US" dirty="0"/>
              <a:t>Each transaction should act </a:t>
            </a:r>
            <a:r>
              <a:rPr lang="en-US" b="1" dirty="0"/>
              <a:t>independently</a:t>
            </a:r>
            <a:r>
              <a:rPr lang="en-US" dirty="0"/>
              <a:t> as if it’s the only one running.</a:t>
            </a:r>
          </a:p>
          <a:p>
            <a:r>
              <a:rPr lang="en-US" dirty="0"/>
              <a:t>Even if multiple users work together, they shouldn’t </a:t>
            </a:r>
            <a:r>
              <a:rPr lang="en-US" b="1" dirty="0"/>
              <a:t>see each other’s partial results</a:t>
            </a:r>
            <a:r>
              <a:rPr lang="en-US" dirty="0"/>
              <a:t>.</a:t>
            </a:r>
          </a:p>
          <a:p>
            <a:r>
              <a:rPr lang="en-US" dirty="0"/>
              <a:t>🧩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Two users transferring money at the same time — each transaction runs in isolation.</a:t>
            </a:r>
          </a:p>
          <a:p>
            <a:r>
              <a:rPr lang="en-US" b="1" dirty="0"/>
              <a:t>SQL Isolation Levels in MySQL:</a:t>
            </a:r>
            <a:endParaRPr lang="en-US" dirty="0"/>
          </a:p>
          <a:p>
            <a:r>
              <a:rPr lang="en-US" b="1" dirty="0"/>
              <a:t>READ UNCOMMITTED</a:t>
            </a:r>
            <a:r>
              <a:rPr lang="en-US" dirty="0"/>
              <a:t> – may see uncommitted data (dirty reads)</a:t>
            </a:r>
          </a:p>
          <a:p>
            <a:r>
              <a:rPr lang="en-US" b="1" dirty="0"/>
              <a:t>READ COMMITTED</a:t>
            </a:r>
            <a:r>
              <a:rPr lang="en-US" dirty="0"/>
              <a:t> – sees only committed data</a:t>
            </a:r>
          </a:p>
          <a:p>
            <a:r>
              <a:rPr lang="en-US" b="1" dirty="0"/>
              <a:t>REPEATABLE READ</a:t>
            </a:r>
            <a:r>
              <a:rPr lang="en-US" dirty="0"/>
              <a:t> </a:t>
            </a:r>
            <a:r>
              <a:rPr lang="en-US" i="1" dirty="0"/>
              <a:t>(default)</a:t>
            </a:r>
            <a:r>
              <a:rPr lang="en-US" dirty="0"/>
              <a:t> – ensures stable reads within a transaction</a:t>
            </a:r>
          </a:p>
          <a:p>
            <a:r>
              <a:rPr lang="en-US" b="1" dirty="0"/>
              <a:t>SERIALIZABLE</a:t>
            </a:r>
            <a:r>
              <a:rPr lang="en-US" dirty="0"/>
              <a:t> – highest isolation; transactions execute one after another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994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FEDF-8D2D-AA05-CD8F-CBD929F0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972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🧠 </a:t>
            </a:r>
            <a:r>
              <a:rPr lang="en-IN" b="1" dirty="0"/>
              <a:t>D. Durability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F31F4-8026-BBEC-63EB-5699FEC94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MySQL writes data to </a:t>
            </a:r>
            <a:r>
              <a:rPr lang="en-US" b="1" dirty="0"/>
              <a:t>logs and disk</a:t>
            </a:r>
            <a:r>
              <a:rPr lang="en-US" dirty="0"/>
              <a:t> so it can recover committed changes after restart.</a:t>
            </a:r>
          </a:p>
          <a:p>
            <a:r>
              <a:rPr lang="en-US" dirty="0"/>
              <a:t>🧩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After transferring ₹5000 successfully → COMMIT → power failure → system restarts → transaction remains saved.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442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1333C4-AFE1-4364-8257-1677EC53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09" y="800100"/>
            <a:ext cx="11076709" cy="556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50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82E013-AEC6-8B68-D0DF-A46EAEDB3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72" y="488373"/>
            <a:ext cx="10338955" cy="552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15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E64B-16E7-232F-1738-AB1276CBA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245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CRUD Operations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A223-8871-3B4F-033B-8CB51EBBA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4" y="1162843"/>
            <a:ext cx="11662064" cy="4351338"/>
          </a:xfrm>
        </p:spPr>
        <p:txBody>
          <a:bodyPr/>
          <a:lstStyle/>
          <a:p>
            <a:r>
              <a:rPr lang="en-US" b="1" dirty="0"/>
              <a:t>CRUD</a:t>
            </a:r>
            <a:r>
              <a:rPr lang="en-US" dirty="0"/>
              <a:t> stands for:</a:t>
            </a:r>
            <a:br>
              <a:rPr lang="en-US" dirty="0"/>
            </a:br>
            <a:r>
              <a:rPr lang="en-US" b="1" dirty="0"/>
              <a:t>C – Create</a:t>
            </a:r>
            <a:r>
              <a:rPr lang="en-US" dirty="0"/>
              <a:t>, </a:t>
            </a:r>
            <a:r>
              <a:rPr lang="en-US" b="1" dirty="0"/>
              <a:t>R – Read</a:t>
            </a:r>
            <a:r>
              <a:rPr lang="en-US" dirty="0"/>
              <a:t>, </a:t>
            </a:r>
            <a:r>
              <a:rPr lang="en-US" b="1" dirty="0"/>
              <a:t>U – Update</a:t>
            </a:r>
            <a:r>
              <a:rPr lang="en-US" dirty="0"/>
              <a:t>, </a:t>
            </a:r>
            <a:r>
              <a:rPr lang="en-US" b="1" dirty="0"/>
              <a:t>D – Delete</a:t>
            </a:r>
            <a:br>
              <a:rPr lang="en-US" dirty="0"/>
            </a:br>
            <a:r>
              <a:rPr lang="en-US" dirty="0"/>
              <a:t>These are the </a:t>
            </a:r>
            <a:r>
              <a:rPr lang="en-US" b="1" dirty="0"/>
              <a:t>four basic operations</a:t>
            </a:r>
            <a:r>
              <a:rPr lang="en-US" dirty="0"/>
              <a:t> you perform on data in any relational database.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56030-B5F8-E967-77A1-7FED97B8E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3338512"/>
            <a:ext cx="11066318" cy="341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39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D501-9566-59FC-7C8D-DCB2541E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Transactions – Commit and Rollback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723C20-F0BD-6C60-E035-F6D438D3D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245" y="1504514"/>
            <a:ext cx="10723419" cy="430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56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CE34EA-370F-DC6A-2F47-53F7DC1FA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09" y="519545"/>
            <a:ext cx="11409218" cy="597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111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154D-4E52-B196-A272-101E7A87F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409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SEQUENCE</a:t>
            </a:r>
            <a:r>
              <a:rPr lang="en-IN" dirty="0"/>
              <a:t> in </a:t>
            </a:r>
            <a:r>
              <a:rPr lang="en-IN" b="1" dirty="0"/>
              <a:t>MySQL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2E78A-FCC2-84C3-50A7-1A03249E0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04743"/>
            <a:ext cx="11658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sequence</a:t>
            </a:r>
            <a:r>
              <a:rPr lang="en-US" dirty="0"/>
              <a:t> is a database object that </a:t>
            </a:r>
            <a:r>
              <a:rPr lang="en-US" b="1" dirty="0"/>
              <a:t>generates a series of unique numbers</a:t>
            </a:r>
            <a:r>
              <a:rPr lang="en-US" dirty="0"/>
              <a:t> — usually used for </a:t>
            </a:r>
            <a:r>
              <a:rPr lang="en-US" b="1" dirty="0"/>
              <a:t>primary keys</a:t>
            </a:r>
            <a:r>
              <a:rPr lang="en-US" dirty="0"/>
              <a:t> or </a:t>
            </a:r>
            <a:r>
              <a:rPr lang="en-US" b="1" dirty="0"/>
              <a:t>ID columns</a:t>
            </a:r>
            <a:r>
              <a:rPr lang="en-US" dirty="0"/>
              <a:t>.</a:t>
            </a:r>
          </a:p>
          <a:p>
            <a:r>
              <a:rPr lang="en-US" dirty="0"/>
              <a:t>Think of it as a </a:t>
            </a:r>
            <a:r>
              <a:rPr lang="en-US" b="1" dirty="0"/>
              <a:t>counter</a:t>
            </a:r>
            <a:r>
              <a:rPr lang="en-US" dirty="0"/>
              <a:t> that automatically increments with each new record.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CREATE SEQUENCE </a:t>
            </a:r>
            <a:r>
              <a:rPr lang="en-US" dirty="0" err="1"/>
              <a:t>emp_seq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START WITH 100</a:t>
            </a:r>
          </a:p>
          <a:p>
            <a:pPr marL="0" indent="0">
              <a:buNone/>
            </a:pPr>
            <a:r>
              <a:rPr lang="en-US" dirty="0"/>
              <a:t>INCREMENT BY 5</a:t>
            </a:r>
          </a:p>
          <a:p>
            <a:pPr marL="0" indent="0">
              <a:buNone/>
            </a:pPr>
            <a:r>
              <a:rPr lang="en-US" dirty="0"/>
              <a:t>MINVALUE 100</a:t>
            </a:r>
          </a:p>
          <a:p>
            <a:pPr marL="0" indent="0">
              <a:buNone/>
            </a:pPr>
            <a:r>
              <a:rPr lang="en-US" dirty="0"/>
              <a:t>MAXVALUE 1000</a:t>
            </a:r>
          </a:p>
          <a:p>
            <a:pPr marL="0" indent="0">
              <a:buNone/>
            </a:pPr>
            <a:r>
              <a:rPr lang="en-US" dirty="0"/>
              <a:t>CYCLE;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28F63-2B89-70AA-BC97-773132A97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426" y="2574086"/>
            <a:ext cx="7117773" cy="361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889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FF48-572E-ECE5-A6DD-DB11C99E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309" y="18256"/>
            <a:ext cx="10515600" cy="563636"/>
          </a:xfrm>
        </p:spPr>
        <p:txBody>
          <a:bodyPr>
            <a:normAutofit fontScale="90000"/>
          </a:bodyPr>
          <a:lstStyle/>
          <a:p>
            <a:r>
              <a:rPr lang="en-IN" dirty="0"/>
              <a:t>Next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AABA9-7CC3-1030-704C-C05743E69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35916"/>
            <a:ext cx="10515600" cy="580382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SELECT NEXT VALUE FOR </a:t>
            </a:r>
            <a:r>
              <a:rPr lang="en-US" dirty="0" err="1"/>
              <a:t>emp_seq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👉 Returns 100 (first value)</a:t>
            </a:r>
          </a:p>
          <a:p>
            <a:r>
              <a:rPr lang="en-US" dirty="0"/>
              <a:t>Next time you call it, it returns 105, 110, 115... and so 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Use in Insert: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INSERT INTO employees (</a:t>
            </a:r>
            <a:r>
              <a:rPr lang="en-US" dirty="0" err="1"/>
              <a:t>emp_id</a:t>
            </a:r>
            <a:r>
              <a:rPr lang="en-US" dirty="0"/>
              <a:t>, name)</a:t>
            </a:r>
          </a:p>
          <a:p>
            <a:pPr marL="0" indent="0">
              <a:buNone/>
            </a:pPr>
            <a:r>
              <a:rPr lang="en-US" dirty="0"/>
              <a:t>VALUES (NEXT VALUE FOR </a:t>
            </a:r>
            <a:r>
              <a:rPr lang="en-US" dirty="0" err="1"/>
              <a:t>emp_seq</a:t>
            </a:r>
            <a:r>
              <a:rPr lang="en-US" dirty="0"/>
              <a:t>, 'Amit’);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</a:t>
            </a:r>
            <a:r>
              <a:rPr lang="en-US" dirty="0" err="1"/>
              <a:t>emp_id</a:t>
            </a:r>
            <a:r>
              <a:rPr lang="en-US" dirty="0"/>
              <a:t> = 100, then 105, then 110,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View Sequence Details:  </a:t>
            </a:r>
            <a:r>
              <a:rPr lang="en-US" dirty="0"/>
              <a:t>SHOW CREATE SEQUENCE </a:t>
            </a:r>
            <a:r>
              <a:rPr lang="en-US" dirty="0" err="1"/>
              <a:t>emp_seq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Restart Sequence     </a:t>
            </a:r>
            <a:r>
              <a:rPr lang="en-US" dirty="0"/>
              <a:t>ALTER SEQUENCE </a:t>
            </a:r>
            <a:r>
              <a:rPr lang="en-US" dirty="0" err="1"/>
              <a:t>emp_seq</a:t>
            </a:r>
            <a:r>
              <a:rPr lang="en-US" dirty="0"/>
              <a:t> RESTART WITH 200;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DROP SEQUENCE </a:t>
            </a:r>
            <a:r>
              <a:rPr lang="en-US" dirty="0" err="1"/>
              <a:t>emp_seq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4552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B2C1-D651-65C4-70D2-FED703F1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Auto-Generating Invoice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51FC-4C25-32E8-D3E1-2C0C51A6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CREATE SEQUENCE </a:t>
            </a:r>
            <a:r>
              <a:rPr lang="en-US" dirty="0" err="1"/>
              <a:t>invoice_seq</a:t>
            </a:r>
            <a:r>
              <a:rPr lang="en-US" dirty="0"/>
              <a:t> START WITH 5000 INCREMENT BY 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invoices (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invoice_no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customer_name</a:t>
            </a:r>
            <a:r>
              <a:rPr lang="en-US" dirty="0"/>
              <a:t> VARCHAR(50),</a:t>
            </a:r>
          </a:p>
          <a:p>
            <a:pPr marL="0" indent="0">
              <a:buNone/>
            </a:pPr>
            <a:r>
              <a:rPr lang="en-US" dirty="0"/>
              <a:t>  amount DECIMAL(10,2)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INSERT INTO invoices</a:t>
            </a:r>
          </a:p>
          <a:p>
            <a:pPr marL="0" indent="0">
              <a:buNone/>
            </a:pPr>
            <a:r>
              <a:rPr lang="en-US" dirty="0"/>
              <a:t>VALUES (NEXT VALUE FOR </a:t>
            </a:r>
            <a:r>
              <a:rPr lang="en-US" dirty="0" err="1"/>
              <a:t>invoice_seq</a:t>
            </a:r>
            <a:r>
              <a:rPr lang="en-US" dirty="0"/>
              <a:t>, 'Rajesh', 2500.50),</a:t>
            </a:r>
          </a:p>
          <a:p>
            <a:pPr marL="0" indent="0">
              <a:buNone/>
            </a:pPr>
            <a:r>
              <a:rPr lang="en-US" dirty="0"/>
              <a:t>       (NEXT VALUE FOR </a:t>
            </a:r>
            <a:r>
              <a:rPr lang="en-US" dirty="0" err="1"/>
              <a:t>invoice_seq</a:t>
            </a:r>
            <a:r>
              <a:rPr lang="en-US" dirty="0"/>
              <a:t>, 'Kavita', 1500.00);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98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76DF04-9918-5924-CF0B-CEDAA1688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" y="145473"/>
            <a:ext cx="11762509" cy="656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2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1878</Words>
  <Application>Microsoft Office PowerPoint</Application>
  <PresentationFormat>Widescreen</PresentationFormat>
  <Paragraphs>266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Office Theme</vt:lpstr>
      <vt:lpstr>🧠 MySQL Subqueries</vt:lpstr>
      <vt:lpstr>PowerPoint Presentation</vt:lpstr>
      <vt:lpstr>Types of Subqueries </vt:lpstr>
      <vt:lpstr>Example tables</vt:lpstr>
      <vt:lpstr>Types of Subqueries with Examples</vt:lpstr>
      <vt:lpstr>✅ (a) Single-Row Subquery</vt:lpstr>
      <vt:lpstr>✅ (b) Multi-Row Subquery</vt:lpstr>
      <vt:lpstr>✅ (c) Correlated Subquery</vt:lpstr>
      <vt:lpstr>✅ (d) Subquery with EXISTS</vt:lpstr>
      <vt:lpstr>✅ (e) Subquery in FROM Clause (Inline View)</vt:lpstr>
      <vt:lpstr>✅ (f) Subquery with INSERT</vt:lpstr>
      <vt:lpstr>Operators Used with Subqueries</vt:lpstr>
      <vt:lpstr>PowerPoint Presentation</vt:lpstr>
      <vt:lpstr>MySQL  JOINS</vt:lpstr>
      <vt:lpstr>What Are Joins in MySQL?</vt:lpstr>
      <vt:lpstr>Example Tables</vt:lpstr>
      <vt:lpstr>Types of Joins</vt:lpstr>
      <vt:lpstr>✅ a) INNER JOIN</vt:lpstr>
      <vt:lpstr>✅ b) LEFT JOIN</vt:lpstr>
      <vt:lpstr>✅ d) FULL OUTER JOIN (MySQL doesn’t have directly — use UNION)</vt:lpstr>
      <vt:lpstr>✅ e) CROSS JOIN</vt:lpstr>
      <vt:lpstr>✅ f) SELF JOIN</vt:lpstr>
      <vt:lpstr>PowerPoint Presentation</vt:lpstr>
      <vt:lpstr>Joins with WHERE vs ON</vt:lpstr>
      <vt:lpstr>PowerPoint Presentation</vt:lpstr>
      <vt:lpstr>Equi Join and Theta Join in MySQL</vt:lpstr>
      <vt:lpstr>EQUI JOIN</vt:lpstr>
      <vt:lpstr>PowerPoint Presentation</vt:lpstr>
      <vt:lpstr>Query Using Equi Join</vt:lpstr>
      <vt:lpstr>THETA JOIN</vt:lpstr>
      <vt:lpstr>Example: Using &gt; operator</vt:lpstr>
      <vt:lpstr>Theta</vt:lpstr>
      <vt:lpstr>PowerPoint Presentation</vt:lpstr>
      <vt:lpstr>PowerPoint Presentation</vt:lpstr>
      <vt:lpstr>ACID Properties</vt:lpstr>
      <vt:lpstr>The 4 ACID Properties</vt:lpstr>
      <vt:lpstr>A. Atomicity (All or Nothing)</vt:lpstr>
      <vt:lpstr>B. Consistency</vt:lpstr>
      <vt:lpstr>🧠 C. Isolation</vt:lpstr>
      <vt:lpstr>🧠 D. Durability</vt:lpstr>
      <vt:lpstr>PowerPoint Presentation</vt:lpstr>
      <vt:lpstr>PowerPoint Presentation</vt:lpstr>
      <vt:lpstr>CRUD Operations in MySQL</vt:lpstr>
      <vt:lpstr>Transactions – Commit and Rollback</vt:lpstr>
      <vt:lpstr>PowerPoint Presentation</vt:lpstr>
      <vt:lpstr>SEQUENCE in MySQL</vt:lpstr>
      <vt:lpstr>Next Value</vt:lpstr>
      <vt:lpstr>Example: Auto-Generating Invoice Numbers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8</cp:revision>
  <dcterms:created xsi:type="dcterms:W3CDTF">2025-10-18T03:20:18Z</dcterms:created>
  <dcterms:modified xsi:type="dcterms:W3CDTF">2025-10-19T10:16:13Z</dcterms:modified>
</cp:coreProperties>
</file>