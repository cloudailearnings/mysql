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57" r:id="rId5"/>
    <p:sldId id="263" r:id="rId6"/>
    <p:sldId id="264" r:id="rId7"/>
    <p:sldId id="260" r:id="rId8"/>
    <p:sldId id="261" r:id="rId9"/>
    <p:sldId id="262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478A5-B2F0-2451-1015-A9BCC1B058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7DE01B-7748-54E0-D84E-BDF8795DC4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ABD791-BD82-DF05-D12F-A308C942B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42064-BD4C-46E3-A7A8-C4307153723F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16235E-9BF0-F1F0-260B-8A6E80054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9476B7-143A-2161-D8C8-6FA12A094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FB089-85CE-49A8-9B65-F4CAA2947A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45508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A6E38-E435-BCA2-097A-079FEAD21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0386B-AD1C-FEDD-2037-4155E655B6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84C748-C922-4AA8-7AD0-A3CDFC2AA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42064-BD4C-46E3-A7A8-C4307153723F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5BAE1B-C7E7-0149-C5D8-66A57A922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FA31C8-3950-91B8-4E01-F826C7DA8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FB089-85CE-49A8-9B65-F4CAA2947A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3439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01F20-C2D7-94B6-8D73-DC919F4B8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F4EA1F-47C2-7ACA-D242-79CBD42E87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2A1267-3313-6154-7FB9-50D8D1C5C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42064-BD4C-46E3-A7A8-C4307153723F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447090-ABD5-2C00-28FA-CBF30F985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F0C59B-917F-F95E-A0D4-F92CF405A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FB089-85CE-49A8-9B65-F4CAA2947A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343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8BD76-822A-B6FF-420E-906AC6227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745106-02CB-E56B-BD28-95BB145865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841CA1-697B-1DD7-6265-6E06BE8E4F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D1F74E-EE28-A76C-F1DA-3693755C4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42064-BD4C-46E3-A7A8-C4307153723F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6617FE-C651-744D-ED57-CA7AB4AAB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1A6133-5542-4520-6607-8DCC855CB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FB089-85CE-49A8-9B65-F4CAA2947A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4951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63EFF-FE76-AF8F-B047-D948DC293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D8F783-C392-6548-1806-8055F52636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AB89FF-574E-D3CE-9FC1-11CEB656E1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C8647C-4EF5-1F8A-E3F3-1D107ACAC7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D447E6-A3BA-48E7-CC7A-6C483EFF1E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D07707-065D-C661-9E2F-E2473E40B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42064-BD4C-46E3-A7A8-C4307153723F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1A684C-1ACA-26C1-1157-6739D11CB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6D3BF8-89AA-0FC6-B76B-58B43BD1E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FB089-85CE-49A8-9B65-F4CAA2947A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6576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41080-C939-68E8-4762-F12B42ED9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3CF95F-2355-A92D-F7DC-793761A6C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42064-BD4C-46E3-A7A8-C4307153723F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E39709-D52E-005F-0C37-B09BED428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EA25C7-E393-6808-7668-7F035666B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FB089-85CE-49A8-9B65-F4CAA2947A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9790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8FEA5F-E9E5-4A6F-AC42-B8FCDC0B0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42064-BD4C-46E3-A7A8-C4307153723F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CB0607-71BF-449B-9E61-BB763FFA4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EC04AF-C1F3-771F-22D3-63093FD55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FB089-85CE-49A8-9B65-F4CAA2947A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85027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2A341-3C53-697F-CBDC-C5D91341D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0A6FC-E4CC-514B-89AC-683931F7FB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460BBC-D9F8-CCC3-6A27-015283533A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8BA204-70EC-107D-5BD9-6AD677E62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42064-BD4C-46E3-A7A8-C4307153723F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B397AD-E925-EEDF-F22B-70B6A7B3E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19F1CF-4423-7356-8DC9-3171725E7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FB089-85CE-49A8-9B65-F4CAA2947A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91873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6E163-24CC-C4E8-DAB1-4DFD5ADD0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14BEED-3D1B-C059-9B7B-8364058D82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DD85B3-6454-9761-B450-8032A9371E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CBA668-69DF-90BC-1B89-D5C6A96CE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42064-BD4C-46E3-A7A8-C4307153723F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32B6B5-CB97-4DB4-F9CD-FD6C5E748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0B45D0-6B90-CCF8-0CE5-9652DD431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FB089-85CE-49A8-9B65-F4CAA2947A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84840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EA5C1-D266-83BC-A78F-858F5A3CD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BF1E20-6FD0-32C4-BDB8-46BD0E0B55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863DF4-1B12-88BC-14FE-94CCED0E8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42064-BD4C-46E3-A7A8-C4307153723F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178D87-7702-A1A2-549F-60FEBFF55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EE1568-CF2F-D92B-B2C8-E9A413D3A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FB089-85CE-49A8-9B65-F4CAA2947A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0707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DBF73EC-7B65-B39B-ED3C-DA4A2BF36D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A3D54F-A65A-A828-8425-8061E7C644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ACCB2E-414E-5D78-1DD3-B3EF826BB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42064-BD4C-46E3-A7A8-C4307153723F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B8EDE2-883F-52B3-77AB-E73AD0F8A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D67DCC-7CFB-E003-F101-A3F916148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FB089-85CE-49A8-9B65-F4CAA2947A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37268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11E38C-1C46-D5E9-C7EF-670EACD94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F76FB7-F84E-5372-A93C-6729D25C07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58D2BD-6843-C60C-64FD-2EF698BEF5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942064-BD4C-46E3-A7A8-C4307153723F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8A0A3D-C544-5BC2-47C7-9FEC91771A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57877B-3845-0576-7C6E-DAB5D93B58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CFB089-85CE-49A8-9B65-F4CAA2947A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3241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BF124-57A6-0996-E9BB-37603112EB1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MySQL</a:t>
            </a:r>
          </a:p>
        </p:txBody>
      </p:sp>
    </p:spTree>
    <p:extLst>
      <p:ext uri="{BB962C8B-B14F-4D97-AF65-F5344CB8AC3E}">
        <p14:creationId xmlns:p14="http://schemas.microsoft.com/office/powerpoint/2010/main" val="12921577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EB4E6-5DC6-7B0B-C6DF-B6E55E97A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0"/>
            <a:ext cx="10515600" cy="681037"/>
          </a:xfrm>
        </p:spPr>
        <p:txBody>
          <a:bodyPr>
            <a:normAutofit fontScale="90000"/>
          </a:bodyPr>
          <a:lstStyle/>
          <a:p>
            <a:r>
              <a:rPr lang="en-IN" dirty="0"/>
              <a:t>🧩 </a:t>
            </a:r>
            <a:r>
              <a:rPr lang="en-IN" b="1" dirty="0"/>
              <a:t>What is RDBMS?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D1E2AD-D5EA-8622-B8F0-C9B916634F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6308" y="1347642"/>
            <a:ext cx="11724409" cy="5073939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RDBMS (Relational Database Management System)</a:t>
            </a:r>
            <a:r>
              <a:rPr lang="en-US" dirty="0"/>
              <a:t> is a type of database management system that </a:t>
            </a:r>
            <a:r>
              <a:rPr lang="en-US" b="1" dirty="0"/>
              <a:t>stores data in tables (relations)</a:t>
            </a:r>
            <a:r>
              <a:rPr lang="en-US" dirty="0"/>
              <a:t> made up of </a:t>
            </a:r>
            <a:r>
              <a:rPr lang="en-US" b="1" dirty="0"/>
              <a:t>rows and columns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It uses </a:t>
            </a:r>
            <a:r>
              <a:rPr lang="en-US" b="1" dirty="0"/>
              <a:t>SQL (Structured Query Language)</a:t>
            </a:r>
            <a:r>
              <a:rPr lang="en-US" dirty="0"/>
              <a:t> to manage and manipulate the data.</a:t>
            </a:r>
          </a:p>
          <a:p>
            <a:r>
              <a:rPr lang="en-US" b="1" dirty="0"/>
              <a:t>⚙️ Key Features of RDBMS</a:t>
            </a:r>
          </a:p>
          <a:p>
            <a:r>
              <a:rPr lang="en-US" b="1" dirty="0"/>
              <a:t>Data stored in tables</a:t>
            </a:r>
            <a:r>
              <a:rPr lang="en-US" dirty="0"/>
              <a:t> – structured in rows and columns</a:t>
            </a:r>
          </a:p>
          <a:p>
            <a:r>
              <a:rPr lang="en-US" b="1" dirty="0"/>
              <a:t>Relationships</a:t>
            </a:r>
            <a:r>
              <a:rPr lang="en-US" dirty="0"/>
              <a:t> – links between tables using </a:t>
            </a:r>
            <a:r>
              <a:rPr lang="en-US" b="1" dirty="0"/>
              <a:t>keys</a:t>
            </a:r>
            <a:r>
              <a:rPr lang="en-US" dirty="0"/>
              <a:t> (Primary and Foreign keys)</a:t>
            </a:r>
          </a:p>
          <a:p>
            <a:r>
              <a:rPr lang="en-US" b="1" dirty="0"/>
              <a:t>SQL support</a:t>
            </a:r>
            <a:r>
              <a:rPr lang="en-US" dirty="0"/>
              <a:t> – data managed through queries</a:t>
            </a:r>
          </a:p>
          <a:p>
            <a:r>
              <a:rPr lang="en-US" b="1" dirty="0"/>
              <a:t>Data integrity</a:t>
            </a:r>
            <a:r>
              <a:rPr lang="en-US" dirty="0"/>
              <a:t> – ensures accuracy and consistency</a:t>
            </a:r>
          </a:p>
          <a:p>
            <a:r>
              <a:rPr lang="en-US" b="1" dirty="0"/>
              <a:t>ACID properties</a:t>
            </a:r>
            <a:r>
              <a:rPr lang="en-US" dirty="0"/>
              <a:t> – ensures reliable transactions</a:t>
            </a:r>
          </a:p>
          <a:p>
            <a:pPr lvl="1"/>
            <a:r>
              <a:rPr lang="en-US" b="1" dirty="0"/>
              <a:t>A</a:t>
            </a:r>
            <a:r>
              <a:rPr lang="en-US" dirty="0"/>
              <a:t>tomicity → all or nothing</a:t>
            </a:r>
          </a:p>
          <a:p>
            <a:pPr lvl="1"/>
            <a:r>
              <a:rPr lang="en-US" b="1" dirty="0"/>
              <a:t>C</a:t>
            </a:r>
            <a:r>
              <a:rPr lang="en-US" dirty="0"/>
              <a:t>onsistency → keeps data valid</a:t>
            </a:r>
          </a:p>
          <a:p>
            <a:pPr lvl="1"/>
            <a:r>
              <a:rPr lang="en-US" b="1" dirty="0"/>
              <a:t>I</a:t>
            </a:r>
            <a:r>
              <a:rPr lang="en-US" dirty="0"/>
              <a:t>solation → transactions don’t affect each other</a:t>
            </a:r>
          </a:p>
          <a:p>
            <a:pPr lvl="1"/>
            <a:r>
              <a:rPr lang="en-US" b="1" dirty="0"/>
              <a:t>D</a:t>
            </a:r>
            <a:r>
              <a:rPr lang="en-US" dirty="0"/>
              <a:t>urability → data remains after system crash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95746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F5196E-D974-F8C9-FE4C-217473CF3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363682"/>
            <a:ext cx="12192000" cy="638001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/>
              <a:t>🧠 Advantages of RDBMS</a:t>
            </a:r>
          </a:p>
          <a:p>
            <a:r>
              <a:rPr lang="en-IN" dirty="0"/>
              <a:t>✅ Easy to use and manage</a:t>
            </a:r>
            <a:br>
              <a:rPr lang="en-IN" dirty="0"/>
            </a:br>
            <a:r>
              <a:rPr lang="en-IN" dirty="0"/>
              <a:t>✅ Avoids data redundancy (no duplicate data)</a:t>
            </a:r>
            <a:br>
              <a:rPr lang="en-IN" dirty="0"/>
            </a:br>
            <a:r>
              <a:rPr lang="en-IN" dirty="0"/>
              <a:t>✅ Enforces relationships between tables</a:t>
            </a:r>
            <a:br>
              <a:rPr lang="en-IN" dirty="0"/>
            </a:br>
            <a:r>
              <a:rPr lang="en-IN" dirty="0"/>
              <a:t>✅ Ensures data security and integrity</a:t>
            </a:r>
            <a:br>
              <a:rPr lang="en-IN" dirty="0"/>
            </a:br>
            <a:r>
              <a:rPr lang="en-IN" dirty="0"/>
              <a:t>✅ Supports multi-user access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b="1" dirty="0"/>
              <a:t>🏢 Popular RDBMS Software</a:t>
            </a:r>
          </a:p>
          <a:p>
            <a:r>
              <a:rPr lang="en-IN" b="1" dirty="0"/>
              <a:t>MySQL</a:t>
            </a:r>
            <a:endParaRPr lang="en-IN" dirty="0"/>
          </a:p>
          <a:p>
            <a:r>
              <a:rPr lang="en-IN" b="1" dirty="0"/>
              <a:t>PostgreSQL</a:t>
            </a:r>
            <a:endParaRPr lang="en-IN" dirty="0"/>
          </a:p>
          <a:p>
            <a:r>
              <a:rPr lang="en-IN" b="1" dirty="0"/>
              <a:t>Oracle Database</a:t>
            </a:r>
            <a:endParaRPr lang="en-IN" dirty="0"/>
          </a:p>
          <a:p>
            <a:r>
              <a:rPr lang="en-IN" b="1" dirty="0"/>
              <a:t>Microsoft SQL Server</a:t>
            </a:r>
            <a:endParaRPr lang="en-IN" dirty="0"/>
          </a:p>
          <a:p>
            <a:r>
              <a:rPr lang="en-IN" b="1" dirty="0"/>
              <a:t>SQLite</a:t>
            </a:r>
            <a:endParaRPr lang="en-IN" dirty="0"/>
          </a:p>
          <a:p>
            <a:r>
              <a:rPr lang="en-IN" b="1" dirty="0"/>
              <a:t>IBM Db2</a:t>
            </a:r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809767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14910-680A-D07D-2004-C23D94621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4528" y="18256"/>
            <a:ext cx="10515600" cy="662782"/>
          </a:xfrm>
        </p:spPr>
        <p:txBody>
          <a:bodyPr>
            <a:normAutofit fontScale="90000"/>
          </a:bodyPr>
          <a:lstStyle/>
          <a:p>
            <a:r>
              <a:rPr lang="en-IN" dirty="0"/>
              <a:t>What is SQL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76FA16-20AC-0EEA-360D-62F6EB4625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6308" y="1409989"/>
            <a:ext cx="11724409" cy="4351338"/>
          </a:xfrm>
        </p:spPr>
        <p:txBody>
          <a:bodyPr/>
          <a:lstStyle/>
          <a:p>
            <a:r>
              <a:rPr lang="en-US" b="1" dirty="0"/>
              <a:t>SQL (Structured Query Language)</a:t>
            </a:r>
            <a:r>
              <a:rPr lang="en-US" dirty="0"/>
              <a:t> is a </a:t>
            </a:r>
            <a:r>
              <a:rPr lang="en-US" b="1" dirty="0"/>
              <a:t>standard programming language</a:t>
            </a:r>
            <a:r>
              <a:rPr lang="en-US" dirty="0"/>
              <a:t> used to </a:t>
            </a:r>
            <a:r>
              <a:rPr lang="en-US" b="1" dirty="0"/>
              <a:t>manage and interact with relational databases</a:t>
            </a:r>
            <a:r>
              <a:rPr lang="en-US" dirty="0"/>
              <a:t>.</a:t>
            </a:r>
          </a:p>
          <a:p>
            <a:r>
              <a:rPr lang="en-US" dirty="0"/>
              <a:t>It allows you to </a:t>
            </a:r>
            <a:r>
              <a:rPr lang="en-US" b="1" dirty="0"/>
              <a:t>store</a:t>
            </a:r>
            <a:r>
              <a:rPr lang="en-US" dirty="0"/>
              <a:t>, </a:t>
            </a:r>
            <a:r>
              <a:rPr lang="en-US" b="1" dirty="0"/>
              <a:t>retrieve</a:t>
            </a:r>
            <a:r>
              <a:rPr lang="en-US" dirty="0"/>
              <a:t>, </a:t>
            </a:r>
            <a:r>
              <a:rPr lang="en-US" b="1" dirty="0"/>
              <a:t>update</a:t>
            </a:r>
            <a:r>
              <a:rPr lang="en-US" dirty="0"/>
              <a:t>, and </a:t>
            </a:r>
            <a:r>
              <a:rPr lang="en-US" b="1" dirty="0"/>
              <a:t>delete</a:t>
            </a:r>
            <a:r>
              <a:rPr lang="en-US" dirty="0"/>
              <a:t> data in a structured way using simple English-like commands.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04027E-168E-6017-2099-C979D82B1D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187" y="3429000"/>
            <a:ext cx="7963590" cy="2728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6586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E41B3-922A-34FB-A000-B08849FAC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9409" y="0"/>
            <a:ext cx="10515600" cy="681037"/>
          </a:xfrm>
        </p:spPr>
        <p:txBody>
          <a:bodyPr>
            <a:normAutofit fontScale="90000"/>
          </a:bodyPr>
          <a:lstStyle/>
          <a:p>
            <a:r>
              <a:rPr lang="en-IN" dirty="0"/>
              <a:t>What is a Database?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16790C-0DE2-3DCA-3209-89DEFEE60D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90442"/>
            <a:ext cx="11959936" cy="5053157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A </a:t>
            </a:r>
            <a:r>
              <a:rPr lang="en-US" b="1" dirty="0"/>
              <a:t>database</a:t>
            </a:r>
            <a:r>
              <a:rPr lang="en-US" dirty="0"/>
              <a:t> is an </a:t>
            </a:r>
            <a:r>
              <a:rPr lang="en-US" b="1" dirty="0"/>
              <a:t>organized collection of data</a:t>
            </a:r>
            <a:r>
              <a:rPr lang="en-US" dirty="0"/>
              <a:t> that can be </a:t>
            </a:r>
            <a:r>
              <a:rPr lang="en-US" b="1" dirty="0"/>
              <a:t>easily accessed, managed, and updated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It stores information in a </a:t>
            </a:r>
            <a:r>
              <a:rPr lang="en-US" b="1" dirty="0"/>
              <a:t>structured way</a:t>
            </a:r>
            <a:r>
              <a:rPr lang="en-US" dirty="0"/>
              <a:t> so that computers and users can quickly find and use it.</a:t>
            </a:r>
          </a:p>
          <a:p>
            <a:endParaRPr lang="en-US" dirty="0"/>
          </a:p>
          <a:p>
            <a:r>
              <a:rPr lang="en-US" dirty="0"/>
              <a:t>A </a:t>
            </a:r>
            <a:r>
              <a:rPr lang="en-US" b="1" dirty="0"/>
              <a:t>database</a:t>
            </a:r>
            <a:r>
              <a:rPr lang="en-US" dirty="0"/>
              <a:t> is like a </a:t>
            </a:r>
            <a:r>
              <a:rPr lang="en-US" b="1" dirty="0"/>
              <a:t>digital filing cabinet</a:t>
            </a:r>
            <a:r>
              <a:rPr lang="en-US" dirty="0"/>
              <a:t> — it keeps data in an organized form so you can quickly </a:t>
            </a:r>
            <a:r>
              <a:rPr lang="en-US" b="1" dirty="0"/>
              <a:t>store, search, and retrieve</a:t>
            </a:r>
            <a:r>
              <a:rPr lang="en-US" dirty="0"/>
              <a:t> information.</a:t>
            </a:r>
          </a:p>
          <a:p>
            <a:endParaRPr lang="en-US" dirty="0"/>
          </a:p>
          <a:p>
            <a:r>
              <a:rPr lang="en-US" b="1" dirty="0"/>
              <a:t>📘 Example:</a:t>
            </a:r>
          </a:p>
          <a:p>
            <a:r>
              <a:rPr lang="en-US" dirty="0"/>
              <a:t>Imagine a </a:t>
            </a:r>
            <a:r>
              <a:rPr lang="en-US" b="1" dirty="0"/>
              <a:t>school database</a:t>
            </a:r>
            <a:r>
              <a:rPr lang="en-US" dirty="0"/>
              <a:t> that stores information about:</a:t>
            </a:r>
          </a:p>
          <a:p>
            <a:r>
              <a:rPr lang="en-US" b="1" dirty="0"/>
              <a:t>Students</a:t>
            </a:r>
            <a:r>
              <a:rPr lang="en-US" dirty="0"/>
              <a:t> (Name, Roll Number, Class)</a:t>
            </a:r>
          </a:p>
          <a:p>
            <a:r>
              <a:rPr lang="en-US" b="1" dirty="0"/>
              <a:t>Teachers</a:t>
            </a:r>
            <a:r>
              <a:rPr lang="en-US" dirty="0"/>
              <a:t> (Name, Subject)</a:t>
            </a:r>
          </a:p>
          <a:p>
            <a:r>
              <a:rPr lang="en-US" b="1" dirty="0"/>
              <a:t>Courses</a:t>
            </a:r>
            <a:r>
              <a:rPr lang="en-US" dirty="0"/>
              <a:t> (Course Code, Duration)</a:t>
            </a:r>
          </a:p>
          <a:p>
            <a:r>
              <a:rPr lang="en-US" dirty="0"/>
              <a:t>All this data is stored in </a:t>
            </a:r>
            <a:r>
              <a:rPr lang="en-US" b="1" dirty="0"/>
              <a:t>tables</a:t>
            </a:r>
            <a:r>
              <a:rPr lang="en-US" dirty="0"/>
              <a:t> within a single database.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55658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081E97-3539-8B5A-67E0-774213810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8318" y="807316"/>
            <a:ext cx="10515600" cy="4351338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-- Create a new database</a:t>
            </a:r>
          </a:p>
          <a:p>
            <a:r>
              <a:rPr lang="en-US" dirty="0"/>
              <a:t>CREATE DATABASE school;</a:t>
            </a:r>
          </a:p>
          <a:p>
            <a:endParaRPr lang="en-US" dirty="0"/>
          </a:p>
          <a:p>
            <a:r>
              <a:rPr lang="en-US" dirty="0"/>
              <a:t>-- Use that database</a:t>
            </a:r>
          </a:p>
          <a:p>
            <a:r>
              <a:rPr lang="en-US" dirty="0"/>
              <a:t>USE school;</a:t>
            </a:r>
          </a:p>
          <a:p>
            <a:endParaRPr lang="en-US" dirty="0"/>
          </a:p>
          <a:p>
            <a:r>
              <a:rPr lang="en-US" dirty="0"/>
              <a:t>-- Create a table inside it</a:t>
            </a:r>
          </a:p>
          <a:p>
            <a:r>
              <a:rPr lang="en-US" dirty="0"/>
              <a:t>CREATE TABLE students (</a:t>
            </a:r>
          </a:p>
          <a:p>
            <a:r>
              <a:rPr lang="en-US" dirty="0"/>
              <a:t>    </a:t>
            </a:r>
            <a:r>
              <a:rPr lang="en-US" dirty="0" err="1"/>
              <a:t>roll_no</a:t>
            </a:r>
            <a:r>
              <a:rPr lang="en-US" dirty="0"/>
              <a:t> INT PRIMARY KEY,</a:t>
            </a:r>
          </a:p>
          <a:p>
            <a:r>
              <a:rPr lang="en-US" dirty="0"/>
              <a:t>    name VARCHAR(50),</a:t>
            </a:r>
          </a:p>
          <a:p>
            <a:r>
              <a:rPr lang="en-US" dirty="0"/>
              <a:t>    class VARCHAR(10),</a:t>
            </a:r>
          </a:p>
          <a:p>
            <a:r>
              <a:rPr lang="en-US" dirty="0"/>
              <a:t>    marks INT</a:t>
            </a:r>
          </a:p>
          <a:p>
            <a:r>
              <a:rPr lang="en-US" dirty="0"/>
              <a:t>);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4FFE4F-F75F-B950-5F27-244FA8CF29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1774" y="1579417"/>
            <a:ext cx="6961908" cy="4597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5812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E4D16-F844-2596-4D8F-F5B6416B2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5564" y="0"/>
            <a:ext cx="10515600" cy="681037"/>
          </a:xfrm>
        </p:spPr>
        <p:txBody>
          <a:bodyPr>
            <a:normAutofit fontScale="90000"/>
          </a:bodyPr>
          <a:lstStyle/>
          <a:p>
            <a:r>
              <a:rPr lang="en-US" dirty="0"/>
              <a:t>🧩 </a:t>
            </a:r>
            <a:r>
              <a:rPr lang="en-US" b="1" dirty="0"/>
              <a:t>What is a Schema in a Database?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DA51DF-385D-C108-98C1-4C20DA086E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746" y="1420380"/>
            <a:ext cx="11599718" cy="4351338"/>
          </a:xfrm>
        </p:spPr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Schema</a:t>
            </a:r>
            <a:r>
              <a:rPr lang="en-US" dirty="0"/>
              <a:t> is the </a:t>
            </a:r>
            <a:r>
              <a:rPr lang="en-US" b="1" dirty="0"/>
              <a:t>logical structure</a:t>
            </a:r>
            <a:r>
              <a:rPr lang="en-US" dirty="0"/>
              <a:t> of a database — it defines </a:t>
            </a:r>
            <a:r>
              <a:rPr lang="en-US" b="1" dirty="0"/>
              <a:t>how data is organized</a:t>
            </a:r>
            <a:r>
              <a:rPr lang="en-US" dirty="0"/>
              <a:t>, what </a:t>
            </a:r>
            <a:r>
              <a:rPr lang="en-US" b="1" dirty="0"/>
              <a:t>tables</a:t>
            </a:r>
            <a:r>
              <a:rPr lang="en-US" dirty="0"/>
              <a:t> exist, what </a:t>
            </a:r>
            <a:r>
              <a:rPr lang="en-US" b="1" dirty="0"/>
              <a:t>columns</a:t>
            </a:r>
            <a:r>
              <a:rPr lang="en-US" dirty="0"/>
              <a:t> they have, and how those tables are </a:t>
            </a:r>
            <a:r>
              <a:rPr lang="en-US" b="1" dirty="0"/>
              <a:t>related</a:t>
            </a:r>
            <a:r>
              <a:rPr lang="en-US" dirty="0"/>
              <a:t> to each other.</a:t>
            </a:r>
          </a:p>
          <a:p>
            <a:r>
              <a:rPr lang="en-US" b="1" dirty="0"/>
              <a:t>Schema as a blueprint or plan</a:t>
            </a:r>
            <a:r>
              <a:rPr lang="en-US" dirty="0"/>
              <a:t> for your database.</a:t>
            </a:r>
          </a:p>
          <a:p>
            <a:endParaRPr lang="en-US" dirty="0"/>
          </a:p>
          <a:p>
            <a:r>
              <a:rPr lang="en-US" dirty="0"/>
              <a:t>Just like a </a:t>
            </a:r>
            <a:r>
              <a:rPr lang="en-US" b="1" dirty="0"/>
              <a:t>blueprint of a building</a:t>
            </a:r>
            <a:r>
              <a:rPr lang="en-US" dirty="0"/>
              <a:t> shows rooms, doors, and connections —</a:t>
            </a:r>
            <a:br>
              <a:rPr lang="en-US" dirty="0"/>
            </a:br>
            <a:r>
              <a:rPr lang="en-US" dirty="0"/>
              <a:t>a </a:t>
            </a:r>
            <a:r>
              <a:rPr lang="en-US" b="1" dirty="0"/>
              <a:t>database schema</a:t>
            </a:r>
            <a:r>
              <a:rPr lang="en-US" dirty="0"/>
              <a:t> shows tables, columns, and relationships.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730606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647CA-B5C3-CEDF-C3C7-B4B4B79D8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🧱 Schema Components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2D2E5D-D59D-2CA1-48EB-2407D8675B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schema typically includes:</a:t>
            </a:r>
          </a:p>
          <a:p>
            <a:r>
              <a:rPr lang="en-US" b="1" dirty="0"/>
              <a:t>Tables</a:t>
            </a:r>
            <a:r>
              <a:rPr lang="en-US" dirty="0"/>
              <a:t> – structures that store data</a:t>
            </a:r>
          </a:p>
          <a:p>
            <a:r>
              <a:rPr lang="en-US" b="1" dirty="0"/>
              <a:t>Columns (Fields)</a:t>
            </a:r>
            <a:r>
              <a:rPr lang="en-US" dirty="0"/>
              <a:t> – attributes of each table</a:t>
            </a:r>
          </a:p>
          <a:p>
            <a:r>
              <a:rPr lang="en-US" b="1" dirty="0"/>
              <a:t>Constraints</a:t>
            </a:r>
            <a:r>
              <a:rPr lang="en-US" dirty="0"/>
              <a:t> – rules like Primary Key, Foreign Key, Not Null, etc.</a:t>
            </a:r>
          </a:p>
          <a:p>
            <a:r>
              <a:rPr lang="en-US" b="1" dirty="0"/>
              <a:t>Relationships</a:t>
            </a:r>
            <a:r>
              <a:rPr lang="en-US" dirty="0"/>
              <a:t> – links between tables (e.g., Employee → Department)</a:t>
            </a:r>
          </a:p>
          <a:p>
            <a:r>
              <a:rPr lang="en-US" b="1" dirty="0"/>
              <a:t>Views, Indexes, Procedures</a:t>
            </a:r>
            <a:r>
              <a:rPr lang="en-US" dirty="0"/>
              <a:t> – logical or performance elements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2325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50A22EFB-C7CC-FCEE-74ED-72FBD97B392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76016693"/>
              </p:ext>
            </p:extLst>
          </p:nvPr>
        </p:nvGraphicFramePr>
        <p:xfrm>
          <a:off x="838200" y="2348344"/>
          <a:ext cx="10515600" cy="3938154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665407786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832647576"/>
                    </a:ext>
                  </a:extLst>
                </a:gridCol>
              </a:tblGrid>
              <a:tr h="8290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5855264"/>
                  </a:ext>
                </a:extLst>
              </a:tr>
              <a:tr h="8290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Physical Schema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How data is stored on disk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9041437"/>
                  </a:ext>
                </a:extLst>
              </a:tr>
              <a:tr h="14508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Logical Schema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How data is logically organized (tables, columns, relationships)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4919015"/>
                  </a:ext>
                </a:extLst>
              </a:tr>
              <a:tr h="8290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User Schema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Individual user’s view or subset of the database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4458103"/>
                  </a:ext>
                </a:extLst>
              </a:tr>
            </a:tbl>
          </a:graphicData>
        </a:graphic>
      </p:graphicFrame>
      <p:sp>
        <p:nvSpPr>
          <p:cNvPr id="8" name="Title 7">
            <a:extLst>
              <a:ext uri="{FF2B5EF4-FFF2-40B4-BE49-F238E27FC236}">
                <a16:creationId xmlns:a16="http://schemas.microsoft.com/office/drawing/2014/main" id="{42DBE672-0498-6384-7FC5-A70C3A039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4881" y="0"/>
            <a:ext cx="10515600" cy="1325563"/>
          </a:xfrm>
        </p:spPr>
        <p:txBody>
          <a:bodyPr/>
          <a:lstStyle/>
          <a:p>
            <a:r>
              <a:rPr lang="en-IN" dirty="0"/>
              <a:t>🗃️ </a:t>
            </a:r>
            <a:r>
              <a:rPr lang="en-IN" b="1" dirty="0"/>
              <a:t>Types of Schemas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29745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92341-2B8F-0817-AE6E-C3B8B42D7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6218" y="2567998"/>
            <a:ext cx="10515600" cy="1325563"/>
          </a:xfrm>
        </p:spPr>
        <p:txBody>
          <a:bodyPr/>
          <a:lstStyle/>
          <a:p>
            <a:r>
              <a:rPr lang="en-IN" b="1" dirty="0"/>
              <a:t>MySQL SQL Data Types</a:t>
            </a:r>
          </a:p>
        </p:txBody>
      </p:sp>
    </p:spTree>
    <p:extLst>
      <p:ext uri="{BB962C8B-B14F-4D97-AF65-F5344CB8AC3E}">
        <p14:creationId xmlns:p14="http://schemas.microsoft.com/office/powerpoint/2010/main" val="12515708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1B2D7-361F-19F3-9786-0D5DAD069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3382" y="18256"/>
            <a:ext cx="10515600" cy="662782"/>
          </a:xfrm>
        </p:spPr>
        <p:txBody>
          <a:bodyPr>
            <a:normAutofit fontScale="90000"/>
          </a:bodyPr>
          <a:lstStyle/>
          <a:p>
            <a:r>
              <a:rPr lang="en-IN" dirty="0"/>
              <a:t>1. Numeric Data Types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39BB93-3897-B57A-2A36-AA9F0D797B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946" y="1249491"/>
            <a:ext cx="11388436" cy="5327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4555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A1342-C63D-993A-4CC8-6030A9C7E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6281" y="0"/>
            <a:ext cx="10515600" cy="681037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2. String (Character) Data Types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4FD807-8629-8A5D-4C06-D5D0F56EBC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409" y="1049482"/>
            <a:ext cx="10972800" cy="5101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3030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67174-5237-F135-6566-76EC9AC4F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9182" y="18256"/>
            <a:ext cx="10515600" cy="662782"/>
          </a:xfrm>
        </p:spPr>
        <p:txBody>
          <a:bodyPr>
            <a:normAutofit fontScale="90000"/>
          </a:bodyPr>
          <a:lstStyle/>
          <a:p>
            <a:r>
              <a:rPr lang="en-US" dirty="0"/>
              <a:t>🕒 </a:t>
            </a:r>
            <a:r>
              <a:rPr lang="en-US" b="1" dirty="0"/>
              <a:t>3. Date and Time Data Types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D848B44-BACE-2087-E643-CFA798ACA8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4627" y="1288472"/>
            <a:ext cx="10754591" cy="5112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3800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5CF8D-495B-ED49-2000-FFC9FB81E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2146" y="18255"/>
            <a:ext cx="10515600" cy="740281"/>
          </a:xfrm>
        </p:spPr>
        <p:txBody>
          <a:bodyPr/>
          <a:lstStyle/>
          <a:p>
            <a:r>
              <a:rPr lang="en-US" dirty="0"/>
              <a:t>💾 </a:t>
            </a:r>
            <a:r>
              <a:rPr lang="en-US" b="1" dirty="0"/>
              <a:t>4. Spatial (Geometric) Data Types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59077B-0247-89DA-8C0B-0468C40AF2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508" y="1602861"/>
            <a:ext cx="10172700" cy="4288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8195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30883-5C7D-FAFE-9D0B-237728211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4781" y="18255"/>
            <a:ext cx="10515600" cy="1325563"/>
          </a:xfrm>
        </p:spPr>
        <p:txBody>
          <a:bodyPr/>
          <a:lstStyle/>
          <a:p>
            <a:r>
              <a:rPr lang="en-US" dirty="0"/>
              <a:t>Example Table Creation in MySQL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2D8624-54BE-3807-BBF6-E4B4916799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CREATE TABLE employees (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emp_id</a:t>
            </a:r>
            <a:r>
              <a:rPr lang="en-US" dirty="0"/>
              <a:t> INT PRIMARY KEY,</a:t>
            </a:r>
          </a:p>
          <a:p>
            <a:pPr marL="0" indent="0">
              <a:buNone/>
            </a:pPr>
            <a:r>
              <a:rPr lang="en-US" dirty="0"/>
              <a:t>    name VARCHAR(50),</a:t>
            </a:r>
          </a:p>
          <a:p>
            <a:pPr marL="0" indent="0">
              <a:buNone/>
            </a:pPr>
            <a:r>
              <a:rPr lang="en-US" dirty="0"/>
              <a:t>    salary DECIMAL(10,2),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join_date</a:t>
            </a:r>
            <a:r>
              <a:rPr lang="en-US" dirty="0"/>
              <a:t> DATE,</a:t>
            </a:r>
          </a:p>
          <a:p>
            <a:pPr marL="0" indent="0">
              <a:buNone/>
            </a:pPr>
            <a:r>
              <a:rPr lang="en-US" dirty="0"/>
              <a:t>    active BOOLEAN,</a:t>
            </a:r>
          </a:p>
          <a:p>
            <a:pPr marL="0" indent="0">
              <a:buNone/>
            </a:pPr>
            <a:r>
              <a:rPr lang="en-US" dirty="0"/>
              <a:t>    skills SET('</a:t>
            </a:r>
            <a:r>
              <a:rPr lang="en-US" dirty="0" err="1"/>
              <a:t>Python','SQL','AI</a:t>
            </a:r>
            <a:r>
              <a:rPr lang="en-US" dirty="0"/>
              <a:t>')</a:t>
            </a:r>
          </a:p>
          <a:p>
            <a:pPr marL="0" indent="0">
              <a:buNone/>
            </a:pPr>
            <a:r>
              <a:rPr lang="en-US" dirty="0"/>
              <a:t>);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51701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70B34-55D8-46F6-9927-DE32D98CE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3809" y="2661516"/>
            <a:ext cx="10515600" cy="1325563"/>
          </a:xfrm>
        </p:spPr>
        <p:txBody>
          <a:bodyPr/>
          <a:lstStyle/>
          <a:p>
            <a:r>
              <a:rPr lang="en-IN" b="1" dirty="0"/>
              <a:t>DATA MODELLING AND ERD</a:t>
            </a:r>
          </a:p>
        </p:txBody>
      </p:sp>
    </p:spTree>
    <p:extLst>
      <p:ext uri="{BB962C8B-B14F-4D97-AF65-F5344CB8AC3E}">
        <p14:creationId xmlns:p14="http://schemas.microsoft.com/office/powerpoint/2010/main" val="23464082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AE1C1-55F3-871C-EAD5-B8396E237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3382" y="18256"/>
            <a:ext cx="10515600" cy="662782"/>
          </a:xfrm>
        </p:spPr>
        <p:txBody>
          <a:bodyPr>
            <a:normAutofit fontScale="90000"/>
          </a:bodyPr>
          <a:lstStyle/>
          <a:p>
            <a:r>
              <a:rPr lang="en-US" dirty="0"/>
              <a:t>🧠 </a:t>
            </a:r>
            <a:r>
              <a:rPr lang="en-US" b="1" dirty="0"/>
              <a:t>What is Data Modelling?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630B75-652C-6088-D562-0A2A6D3DE3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572" y="1253331"/>
            <a:ext cx="11662064" cy="4351338"/>
          </a:xfrm>
        </p:spPr>
        <p:txBody>
          <a:bodyPr/>
          <a:lstStyle/>
          <a:p>
            <a:r>
              <a:rPr lang="en-US" b="1" dirty="0"/>
              <a:t>Data Modelling</a:t>
            </a:r>
            <a:r>
              <a:rPr lang="en-US" dirty="0"/>
              <a:t> is the </a:t>
            </a:r>
            <a:r>
              <a:rPr lang="en-US" b="1" dirty="0"/>
              <a:t>process of designing the structure of a database</a:t>
            </a:r>
            <a:r>
              <a:rPr lang="en-US" dirty="0"/>
              <a:t> — how data will be </a:t>
            </a:r>
            <a:r>
              <a:rPr lang="en-US" b="1" dirty="0"/>
              <a:t>stored, related, and accessed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It’s like </a:t>
            </a:r>
            <a:r>
              <a:rPr lang="en-US" b="1" dirty="0"/>
              <a:t>planning a blueprint</a:t>
            </a:r>
            <a:r>
              <a:rPr lang="en-US" dirty="0"/>
              <a:t> before building the actual database.</a:t>
            </a:r>
          </a:p>
          <a:p>
            <a:endParaRPr lang="en-US" dirty="0"/>
          </a:p>
          <a:p>
            <a:r>
              <a:rPr lang="en-US" dirty="0"/>
              <a:t>Data modelling helps you </a:t>
            </a:r>
            <a:r>
              <a:rPr lang="en-US" b="1" dirty="0"/>
              <a:t>organize data logically</a:t>
            </a:r>
            <a:r>
              <a:rPr lang="en-US" dirty="0"/>
              <a:t> — defining what entities (things) exist, what attributes (details) they have, and how they relate to each other.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350666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29EF1-AE4A-A3C4-2937-7607DE399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9964" y="18255"/>
            <a:ext cx="10515600" cy="740281"/>
          </a:xfrm>
        </p:spPr>
        <p:txBody>
          <a:bodyPr/>
          <a:lstStyle/>
          <a:p>
            <a:r>
              <a:rPr lang="en-US" dirty="0"/>
              <a:t>🧩 </a:t>
            </a:r>
            <a:r>
              <a:rPr lang="en-US" b="1" dirty="0"/>
              <a:t>Levels of Data Models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FA6E56-5C0C-8D94-5A4A-E17AF067E8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319" y="1350818"/>
            <a:ext cx="10931236" cy="4488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8748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BD73D-E9C3-92EF-900E-A925F979E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8256"/>
            <a:ext cx="11353800" cy="662782"/>
          </a:xfrm>
        </p:spPr>
        <p:txBody>
          <a:bodyPr>
            <a:normAutofit fontScale="90000"/>
          </a:bodyPr>
          <a:lstStyle/>
          <a:p>
            <a:r>
              <a:rPr lang="en-US" dirty="0"/>
              <a:t>🏷️ </a:t>
            </a:r>
            <a:r>
              <a:rPr lang="en-US" b="1" dirty="0"/>
              <a:t>What is an ERD (Entity Relationship Diagram)?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AA5FB9-E408-55C1-2760-BC721D6F94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045" y="1162843"/>
            <a:ext cx="11568546" cy="4351338"/>
          </a:xfrm>
        </p:spPr>
        <p:txBody>
          <a:bodyPr/>
          <a:lstStyle/>
          <a:p>
            <a:r>
              <a:rPr lang="en-US" dirty="0"/>
              <a:t>An </a:t>
            </a:r>
            <a:r>
              <a:rPr lang="en-US" b="1" dirty="0"/>
              <a:t>ERD (Entity Relationship Diagram)</a:t>
            </a:r>
            <a:r>
              <a:rPr lang="en-US" dirty="0"/>
              <a:t> is a </a:t>
            </a:r>
            <a:r>
              <a:rPr lang="en-US" b="1" dirty="0"/>
              <a:t>visual representation</a:t>
            </a:r>
            <a:r>
              <a:rPr lang="en-US" dirty="0"/>
              <a:t> of the data model — it shows:</a:t>
            </a:r>
          </a:p>
          <a:p>
            <a:r>
              <a:rPr lang="en-US" b="1" dirty="0"/>
              <a:t>Entities</a:t>
            </a:r>
            <a:r>
              <a:rPr lang="en-US" dirty="0"/>
              <a:t> (tables)</a:t>
            </a:r>
          </a:p>
          <a:p>
            <a:r>
              <a:rPr lang="en-US" b="1" dirty="0"/>
              <a:t>Attributes</a:t>
            </a:r>
            <a:r>
              <a:rPr lang="en-US" dirty="0"/>
              <a:t> (columns)</a:t>
            </a:r>
          </a:p>
          <a:p>
            <a:r>
              <a:rPr lang="en-US" b="1" dirty="0"/>
              <a:t>Relationships</a:t>
            </a:r>
            <a:r>
              <a:rPr lang="en-US" dirty="0"/>
              <a:t> (links between tables)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731968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39DE9-CFB3-E04B-A837-17DBD29CE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4945" y="1"/>
            <a:ext cx="10515600" cy="779318"/>
          </a:xfrm>
        </p:spPr>
        <p:txBody>
          <a:bodyPr/>
          <a:lstStyle/>
          <a:p>
            <a:r>
              <a:rPr lang="en-US" dirty="0"/>
              <a:t>📘 </a:t>
            </a:r>
            <a:r>
              <a:rPr lang="en-US" b="1" dirty="0"/>
              <a:t>Key Components of ERD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89E752-01F1-9FC3-40C2-81817FE9F9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263" y="1537855"/>
            <a:ext cx="9964881" cy="4582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1970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B8992-D448-03A4-3EBA-2F28B8D871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9019" y="-72737"/>
            <a:ext cx="10515600" cy="1325563"/>
          </a:xfrm>
        </p:spPr>
        <p:txBody>
          <a:bodyPr/>
          <a:lstStyle/>
          <a:p>
            <a:r>
              <a:rPr lang="en-IN" dirty="0"/>
              <a:t>🔗 </a:t>
            </a:r>
            <a:r>
              <a:rPr lang="en-IN" b="1" dirty="0"/>
              <a:t>Types of Relationships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11A4A8-E08D-15D7-AF05-5E006FD34A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964" y="1496291"/>
            <a:ext cx="10318172" cy="4094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2431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EEAC0-B8A1-6183-C52D-31A2F3B04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6573" y="0"/>
            <a:ext cx="10515600" cy="681037"/>
          </a:xfrm>
        </p:spPr>
        <p:txBody>
          <a:bodyPr>
            <a:normAutofit fontScale="90000"/>
          </a:bodyPr>
          <a:lstStyle/>
          <a:p>
            <a:r>
              <a:rPr lang="en-US" dirty="0"/>
              <a:t>🧭 </a:t>
            </a:r>
            <a:r>
              <a:rPr lang="en-US" b="1" dirty="0"/>
              <a:t>Example ERD: School Database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F4581A-450F-2994-1AEF-5EB4BDB640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9436" y="1144588"/>
            <a:ext cx="10515600" cy="5599112"/>
          </a:xfrm>
        </p:spPr>
        <p:txBody>
          <a:bodyPr>
            <a:normAutofit fontScale="92500" lnSpcReduction="10000"/>
          </a:bodyPr>
          <a:lstStyle/>
          <a:p>
            <a:r>
              <a:rPr lang="en-IN" b="1" dirty="0"/>
              <a:t>Entities:</a:t>
            </a:r>
          </a:p>
          <a:p>
            <a:r>
              <a:rPr lang="en-IN" b="1" dirty="0"/>
              <a:t>Student</a:t>
            </a:r>
            <a:endParaRPr lang="en-IN" dirty="0"/>
          </a:p>
          <a:p>
            <a:pPr lvl="1"/>
            <a:r>
              <a:rPr lang="en-IN" dirty="0" err="1"/>
              <a:t>Student_ID</a:t>
            </a:r>
            <a:r>
              <a:rPr lang="en-IN" dirty="0"/>
              <a:t> (PK)</a:t>
            </a:r>
          </a:p>
          <a:p>
            <a:pPr lvl="1"/>
            <a:r>
              <a:rPr lang="en-IN" dirty="0"/>
              <a:t>Name</a:t>
            </a:r>
          </a:p>
          <a:p>
            <a:pPr lvl="1"/>
            <a:r>
              <a:rPr lang="en-IN" dirty="0"/>
              <a:t>Age</a:t>
            </a:r>
          </a:p>
          <a:p>
            <a:pPr lvl="1"/>
            <a:r>
              <a:rPr lang="en-IN" dirty="0"/>
              <a:t>Class</a:t>
            </a:r>
          </a:p>
          <a:p>
            <a:r>
              <a:rPr lang="en-IN" b="1" dirty="0"/>
              <a:t>Course</a:t>
            </a:r>
            <a:endParaRPr lang="en-IN" dirty="0"/>
          </a:p>
          <a:p>
            <a:pPr lvl="1"/>
            <a:r>
              <a:rPr lang="en-IN" dirty="0" err="1"/>
              <a:t>Course_ID</a:t>
            </a:r>
            <a:r>
              <a:rPr lang="en-IN" dirty="0"/>
              <a:t> (PK)</a:t>
            </a:r>
          </a:p>
          <a:p>
            <a:pPr lvl="1"/>
            <a:r>
              <a:rPr lang="en-IN" dirty="0" err="1"/>
              <a:t>Course_Name</a:t>
            </a:r>
            <a:endParaRPr lang="en-IN" dirty="0"/>
          </a:p>
          <a:p>
            <a:pPr lvl="1"/>
            <a:r>
              <a:rPr lang="en-IN" dirty="0"/>
              <a:t>Duration</a:t>
            </a:r>
          </a:p>
          <a:p>
            <a:r>
              <a:rPr lang="en-IN" b="1" dirty="0" err="1"/>
              <a:t>Enrollment</a:t>
            </a:r>
            <a:endParaRPr lang="en-IN" dirty="0"/>
          </a:p>
          <a:p>
            <a:pPr lvl="1"/>
            <a:r>
              <a:rPr lang="en-IN" dirty="0" err="1"/>
              <a:t>Enrollment_ID</a:t>
            </a:r>
            <a:r>
              <a:rPr lang="en-IN" dirty="0"/>
              <a:t> (PK)</a:t>
            </a:r>
          </a:p>
          <a:p>
            <a:pPr lvl="1"/>
            <a:r>
              <a:rPr lang="en-IN" dirty="0" err="1"/>
              <a:t>Student_ID</a:t>
            </a:r>
            <a:r>
              <a:rPr lang="en-IN" dirty="0"/>
              <a:t> (FK)</a:t>
            </a:r>
          </a:p>
          <a:p>
            <a:pPr lvl="1"/>
            <a:r>
              <a:rPr lang="en-IN" dirty="0" err="1"/>
              <a:t>Course_ID</a:t>
            </a:r>
            <a:r>
              <a:rPr lang="en-IN" dirty="0"/>
              <a:t> (FK)</a:t>
            </a:r>
          </a:p>
          <a:p>
            <a:pPr lvl="1"/>
            <a:r>
              <a:rPr lang="en-IN" dirty="0" err="1"/>
              <a:t>Enrollment_Date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56853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D7DB9-0E9F-BBB1-E0BE-E6F61E745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🧩 </a:t>
            </a:r>
            <a:r>
              <a:rPr lang="en-IN" b="1" dirty="0"/>
              <a:t>Relationships: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51D31E1-7E83-6DF5-382C-C9887120BB5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Student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can enroll in many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Courses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Course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can have many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Students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This is a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Many-to-Many relationship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implemented using the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Enrollment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table.</a:t>
            </a:r>
          </a:p>
        </p:txBody>
      </p:sp>
    </p:spTree>
    <p:extLst>
      <p:ext uri="{BB962C8B-B14F-4D97-AF65-F5344CB8AC3E}">
        <p14:creationId xmlns:p14="http://schemas.microsoft.com/office/powerpoint/2010/main" val="38989023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0D65D-26D2-FC4D-410B-790C813DA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4427" y="0"/>
            <a:ext cx="10515600" cy="1325563"/>
          </a:xfrm>
        </p:spPr>
        <p:txBody>
          <a:bodyPr/>
          <a:lstStyle/>
          <a:p>
            <a:r>
              <a:rPr lang="en-IN" dirty="0"/>
              <a:t>🧩 </a:t>
            </a:r>
            <a:r>
              <a:rPr lang="en-IN" b="1" dirty="0"/>
              <a:t>Sublanguages of SQL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2239D0-5B18-1BF7-99ED-EED1A454B7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SQL (Structured Query Language)</a:t>
            </a:r>
            <a:r>
              <a:rPr lang="en-US" dirty="0"/>
              <a:t> is not a single command language —</a:t>
            </a:r>
            <a:br>
              <a:rPr lang="en-US" dirty="0"/>
            </a:br>
            <a:r>
              <a:rPr lang="en-US" dirty="0"/>
              <a:t>it’s divided into </a:t>
            </a:r>
            <a:r>
              <a:rPr lang="en-US" b="1" dirty="0"/>
              <a:t>sub-languages</a:t>
            </a:r>
            <a:r>
              <a:rPr lang="en-US" dirty="0"/>
              <a:t>, each designed for a specific purpose in managing data and databases.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05246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4FD55-114A-7BE0-8007-3BB94DA16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4882" y="18256"/>
            <a:ext cx="10515600" cy="771454"/>
          </a:xfrm>
        </p:spPr>
        <p:txBody>
          <a:bodyPr/>
          <a:lstStyle/>
          <a:p>
            <a:r>
              <a:rPr lang="en-IN" dirty="0"/>
              <a:t>🧠 </a:t>
            </a:r>
            <a:r>
              <a:rPr lang="en-IN" b="1" dirty="0"/>
              <a:t>Main SQL Sublanguages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FBA4C2-13D6-0C23-BF3B-3EAE3A1A44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855" y="1146992"/>
            <a:ext cx="11253354" cy="5097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1211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471EF-9AC1-D9D3-E0F3-34F9130E5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4164" y="18255"/>
            <a:ext cx="10515600" cy="761063"/>
          </a:xfrm>
        </p:spPr>
        <p:txBody>
          <a:bodyPr/>
          <a:lstStyle/>
          <a:p>
            <a:r>
              <a:rPr lang="it-IT" dirty="0"/>
              <a:t>1️⃣ DDL – Data Definition Language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45D9E6-C92A-FCA8-D53E-70134C8EB7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53331"/>
            <a:ext cx="12115800" cy="4351338"/>
          </a:xfrm>
        </p:spPr>
        <p:txBody>
          <a:bodyPr>
            <a:normAutofit fontScale="92500"/>
          </a:bodyPr>
          <a:lstStyle/>
          <a:p>
            <a:r>
              <a:rPr lang="en-US" dirty="0"/>
              <a:t>Defines and manages database objects (tables, schemas, indexes and many more).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CREATE TABLE employees (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emp_id</a:t>
            </a:r>
            <a:r>
              <a:rPr lang="en-US" dirty="0"/>
              <a:t> INT PRIMARY KEY,</a:t>
            </a:r>
          </a:p>
          <a:p>
            <a:pPr marL="0" indent="0">
              <a:buNone/>
            </a:pPr>
            <a:r>
              <a:rPr lang="en-US" dirty="0"/>
              <a:t>    name VARCHAR(50),</a:t>
            </a:r>
          </a:p>
          <a:p>
            <a:pPr marL="0" indent="0">
              <a:buNone/>
            </a:pPr>
            <a:r>
              <a:rPr lang="en-US" dirty="0"/>
              <a:t>    salary DECIMAL(10,2)</a:t>
            </a:r>
          </a:p>
          <a:p>
            <a:pPr marL="0" indent="0">
              <a:buNone/>
            </a:pP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ALTER TABLE employees ADD COLUMN department VARCHAR(30);</a:t>
            </a:r>
          </a:p>
          <a:p>
            <a:pPr marL="0" indent="0">
              <a:buNone/>
            </a:pPr>
            <a:r>
              <a:rPr lang="en-US" dirty="0"/>
              <a:t>DROP TABLE employees;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36174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BE0C6-D111-DD0B-BAC1-E3E13202C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4164" y="18255"/>
            <a:ext cx="10515600" cy="740281"/>
          </a:xfrm>
        </p:spPr>
        <p:txBody>
          <a:bodyPr/>
          <a:lstStyle/>
          <a:p>
            <a:r>
              <a:rPr lang="en-IN" dirty="0"/>
              <a:t>2️⃣ DML – Data Manipulation Language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5C12E0-C503-A507-8CFC-7A970A47A1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791" y="1253331"/>
            <a:ext cx="10515600" cy="4351338"/>
          </a:xfrm>
        </p:spPr>
        <p:txBody>
          <a:bodyPr/>
          <a:lstStyle/>
          <a:p>
            <a:r>
              <a:rPr lang="en-US" dirty="0"/>
              <a:t>Used for handling data within tables.</a:t>
            </a:r>
          </a:p>
          <a:p>
            <a:endParaRPr lang="en-US" dirty="0"/>
          </a:p>
          <a:p>
            <a:r>
              <a:rPr lang="en-US" dirty="0"/>
              <a:t>INSERT INTO employees VALUES (101, 'John', 50000, 'HR');</a:t>
            </a:r>
          </a:p>
          <a:p>
            <a:r>
              <a:rPr lang="en-US" dirty="0"/>
              <a:t>UPDATE employees SET salary = 55000 WHERE </a:t>
            </a:r>
            <a:r>
              <a:rPr lang="en-US" dirty="0" err="1"/>
              <a:t>emp_id</a:t>
            </a:r>
            <a:r>
              <a:rPr lang="en-US" dirty="0"/>
              <a:t> = 101;</a:t>
            </a:r>
          </a:p>
          <a:p>
            <a:r>
              <a:rPr lang="en-US" dirty="0"/>
              <a:t>DELETE FROM employees WHERE </a:t>
            </a:r>
            <a:r>
              <a:rPr lang="en-US" dirty="0" err="1"/>
              <a:t>emp_id</a:t>
            </a:r>
            <a:r>
              <a:rPr lang="en-US" dirty="0"/>
              <a:t> = 101;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75586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B0782-41B8-FA54-61E9-3B51C006A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3️⃣ DQL – Data Query Language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656519-66D7-B94F-D689-39DE239C98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Used to </a:t>
            </a:r>
            <a:r>
              <a:rPr lang="en-US" b="1" dirty="0"/>
              <a:t>fetch or retrieve</a:t>
            </a:r>
            <a:r>
              <a:rPr lang="en-US" dirty="0"/>
              <a:t> data.</a:t>
            </a:r>
          </a:p>
          <a:p>
            <a:endParaRPr lang="en-US" dirty="0"/>
          </a:p>
          <a:p>
            <a:r>
              <a:rPr lang="en-US" dirty="0"/>
              <a:t>SELECT name, salary FROM employees WHERE department = 'HR';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40674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CD46B-1AA7-3E78-FF7F-A8F38B85F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4️⃣ DCL – Data Control Language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0D27D3-80F3-2742-A22F-B3995A8D5F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Manages </a:t>
            </a:r>
            <a:r>
              <a:rPr lang="en-US" b="1" dirty="0"/>
              <a:t>user permissions</a:t>
            </a:r>
            <a:r>
              <a:rPr lang="en-US" dirty="0"/>
              <a:t> and access control.</a:t>
            </a:r>
          </a:p>
          <a:p>
            <a:endParaRPr lang="en-US" dirty="0"/>
          </a:p>
          <a:p>
            <a:r>
              <a:rPr lang="en-US" dirty="0"/>
              <a:t>GRANT SELECT, UPDATE ON employees TO user1;</a:t>
            </a:r>
          </a:p>
          <a:p>
            <a:r>
              <a:rPr lang="en-US" dirty="0"/>
              <a:t>REVOKE UPDATE ON employees FROM user1;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662435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A81FA-4AAB-CE73-DC7F-586B9D868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5️⃣ TCL – Transaction Control Language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307313-2FC2-719C-034F-3DEAB0F538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Ensures that </a:t>
            </a:r>
            <a:r>
              <a:rPr lang="en-US" b="1" dirty="0"/>
              <a:t>database transactions</a:t>
            </a:r>
            <a:r>
              <a:rPr lang="en-US" dirty="0"/>
              <a:t> are consistent and reliable.</a:t>
            </a:r>
          </a:p>
          <a:p>
            <a:endParaRPr lang="en-US" dirty="0"/>
          </a:p>
          <a:p>
            <a:r>
              <a:rPr lang="en-US" dirty="0"/>
              <a:t>START TRANSACTION;</a:t>
            </a:r>
          </a:p>
          <a:p>
            <a:r>
              <a:rPr lang="en-US" dirty="0"/>
              <a:t>UPDATE employees SET salary = 60000 WHERE </a:t>
            </a:r>
            <a:r>
              <a:rPr lang="en-US" dirty="0" err="1"/>
              <a:t>emp_id</a:t>
            </a:r>
            <a:r>
              <a:rPr lang="en-US" dirty="0"/>
              <a:t> = 102;</a:t>
            </a:r>
          </a:p>
          <a:p>
            <a:r>
              <a:rPr lang="en-US" dirty="0"/>
              <a:t>COMMIT;      -- Saves changes</a:t>
            </a:r>
          </a:p>
          <a:p>
            <a:r>
              <a:rPr lang="en-US" dirty="0"/>
              <a:t>-- or</a:t>
            </a:r>
          </a:p>
          <a:p>
            <a:r>
              <a:rPr lang="en-US" dirty="0"/>
              <a:t>ROLLBACK;    -- Undoes changes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050844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CDF5C-9683-B679-C52E-C139D5E0D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5145" y="2536825"/>
            <a:ext cx="10515600" cy="1325563"/>
          </a:xfrm>
        </p:spPr>
        <p:txBody>
          <a:bodyPr/>
          <a:lstStyle/>
          <a:p>
            <a:r>
              <a:rPr lang="en-IN" b="1" dirty="0"/>
              <a:t>SQL Queries</a:t>
            </a:r>
          </a:p>
        </p:txBody>
      </p:sp>
    </p:spTree>
    <p:extLst>
      <p:ext uri="{BB962C8B-B14F-4D97-AF65-F5344CB8AC3E}">
        <p14:creationId xmlns:p14="http://schemas.microsoft.com/office/powerpoint/2010/main" val="25320506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FB20C-57F5-956D-CE82-DAE9E7B5E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8464" y="18256"/>
            <a:ext cx="10515600" cy="771454"/>
          </a:xfrm>
        </p:spPr>
        <p:txBody>
          <a:bodyPr/>
          <a:lstStyle/>
          <a:p>
            <a:r>
              <a:rPr lang="en-US" dirty="0"/>
              <a:t>💡 </a:t>
            </a:r>
            <a:r>
              <a:rPr lang="en-US" b="1" dirty="0"/>
              <a:t>What Are SQL Queries?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5D0C1F-39C5-666F-19BA-08F34125E3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136" y="1576243"/>
            <a:ext cx="11869882" cy="4351338"/>
          </a:xfrm>
        </p:spPr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query</a:t>
            </a:r>
            <a:r>
              <a:rPr lang="en-US" dirty="0"/>
              <a:t> in SQL is a </a:t>
            </a:r>
            <a:r>
              <a:rPr lang="en-US" b="1" dirty="0"/>
              <a:t>request or command</a:t>
            </a:r>
            <a:r>
              <a:rPr lang="en-US" dirty="0"/>
              <a:t> used to </a:t>
            </a:r>
            <a:r>
              <a:rPr lang="en-US" b="1" dirty="0"/>
              <a:t>interact with the database</a:t>
            </a:r>
            <a:r>
              <a:rPr lang="en-US" dirty="0"/>
              <a:t> — to retrieve, insert, update, or delete data.</a:t>
            </a:r>
          </a:p>
          <a:p>
            <a:r>
              <a:rPr lang="en-US" dirty="0"/>
              <a:t>👉 Simply put:</a:t>
            </a:r>
          </a:p>
          <a:p>
            <a:r>
              <a:rPr lang="en-US" dirty="0"/>
              <a:t>A </a:t>
            </a:r>
            <a:r>
              <a:rPr lang="en-US" b="1" dirty="0"/>
              <a:t>query</a:t>
            </a:r>
            <a:r>
              <a:rPr lang="en-US" dirty="0"/>
              <a:t> tells the database </a:t>
            </a:r>
            <a:r>
              <a:rPr lang="en-US" i="1" dirty="0"/>
              <a:t>what you want it to do</a:t>
            </a:r>
            <a:r>
              <a:rPr lang="en-US" dirty="0"/>
              <a:t> with the data.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1387981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6B272-1A0C-332E-6D9A-B3A5C9894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1137" y="18256"/>
            <a:ext cx="10515600" cy="662782"/>
          </a:xfrm>
        </p:spPr>
        <p:txBody>
          <a:bodyPr>
            <a:normAutofit fontScale="90000"/>
          </a:bodyPr>
          <a:lstStyle/>
          <a:p>
            <a:r>
              <a:rPr lang="en-US" dirty="0"/>
              <a:t>🧩 </a:t>
            </a:r>
            <a:r>
              <a:rPr lang="en-US" b="1" dirty="0"/>
              <a:t>Types of SQL Queries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542627-9266-3FEC-94F1-45D1EAB7FC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136" y="1496291"/>
            <a:ext cx="10287000" cy="4312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51356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E8C3D-E039-FE1A-4805-570BF9060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5664" y="18256"/>
            <a:ext cx="10515600" cy="662782"/>
          </a:xfrm>
        </p:spPr>
        <p:txBody>
          <a:bodyPr>
            <a:normAutofit fontScale="90000"/>
          </a:bodyPr>
          <a:lstStyle/>
          <a:p>
            <a:r>
              <a:rPr lang="en-IN" dirty="0"/>
              <a:t>Example: Complete Query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996658-F693-C693-B48D-651CAEFC3D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918" y="1253331"/>
            <a:ext cx="10515600" cy="5344896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CREATE TABLE employees (</a:t>
            </a:r>
          </a:p>
          <a:p>
            <a:pPr marL="0" indent="0">
              <a:buNone/>
            </a:pPr>
            <a:r>
              <a:rPr lang="en-US" dirty="0"/>
              <a:t>    id INT PRIMARY KEY,</a:t>
            </a:r>
          </a:p>
          <a:p>
            <a:pPr marL="0" indent="0">
              <a:buNone/>
            </a:pPr>
            <a:r>
              <a:rPr lang="en-US" dirty="0"/>
              <a:t>    name VARCHAR(50),</a:t>
            </a:r>
          </a:p>
          <a:p>
            <a:pPr marL="0" indent="0">
              <a:buNone/>
            </a:pPr>
            <a:r>
              <a:rPr lang="en-US" dirty="0"/>
              <a:t>    department VARCHAR(30),</a:t>
            </a:r>
          </a:p>
          <a:p>
            <a:pPr marL="0" indent="0">
              <a:buNone/>
            </a:pPr>
            <a:r>
              <a:rPr lang="en-US" dirty="0"/>
              <a:t>    salary DECIMAL(10,2)</a:t>
            </a:r>
          </a:p>
          <a:p>
            <a:pPr marL="0" indent="0">
              <a:buNone/>
            </a:pPr>
            <a:r>
              <a:rPr lang="en-US" dirty="0"/>
              <a:t>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INSERT INTO employees VALUES (1, 'Alice', 'HR', 50000);</a:t>
            </a:r>
          </a:p>
          <a:p>
            <a:pPr marL="0" indent="0">
              <a:buNone/>
            </a:pPr>
            <a:r>
              <a:rPr lang="en-US" dirty="0"/>
              <a:t>INSERT INTO employees VALUES (2, 'Bob', 'IT', 60000);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SELECT name, salary FROM employees WHERE department = 'IT';</a:t>
            </a:r>
          </a:p>
          <a:p>
            <a:pPr marL="0" indent="0">
              <a:buNone/>
            </a:pPr>
            <a:r>
              <a:rPr lang="en-US" dirty="0"/>
              <a:t>UPDATE employees SET salary = 65000 WHERE id = 2;</a:t>
            </a:r>
          </a:p>
          <a:p>
            <a:pPr marL="0" indent="0">
              <a:buNone/>
            </a:pPr>
            <a:r>
              <a:rPr lang="en-US" dirty="0"/>
              <a:t>DELETE FROM employees WHERE id = 1;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089887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21EBE-54FF-E77A-3C10-432C15549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✅ </a:t>
            </a:r>
            <a:r>
              <a:rPr lang="en-IN" b="1" dirty="0"/>
              <a:t>f) SELF JOIN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70E4C4-E967-A774-D6AB-D92AA6948A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Table joined with itself — useful for hierarchical data.</a:t>
            </a:r>
          </a:p>
          <a:p>
            <a:endParaRPr lang="en-US" dirty="0"/>
          </a:p>
          <a:p>
            <a:r>
              <a:rPr lang="en-US" dirty="0"/>
              <a:t>Example:</a:t>
            </a:r>
            <a:br>
              <a:rPr lang="en-US" dirty="0"/>
            </a:br>
            <a:r>
              <a:rPr lang="en-US" dirty="0"/>
              <a:t>Find employees who earn </a:t>
            </a:r>
            <a:r>
              <a:rPr lang="en-US" b="1" dirty="0"/>
              <a:t>more than another employee</a:t>
            </a:r>
            <a:r>
              <a:rPr lang="en-US" dirty="0"/>
              <a:t>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SELECT e1.name AS Employee, e2.name AS </a:t>
            </a:r>
            <a:r>
              <a:rPr lang="en-US" dirty="0" err="1"/>
              <a:t>Lower_Paid_Employee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FROM employees e1</a:t>
            </a:r>
          </a:p>
          <a:p>
            <a:pPr marL="0" indent="0">
              <a:buNone/>
            </a:pPr>
            <a:r>
              <a:rPr lang="en-US" dirty="0"/>
              <a:t>JOIN employees e2</a:t>
            </a:r>
          </a:p>
          <a:p>
            <a:pPr marL="0" indent="0">
              <a:buNone/>
            </a:pPr>
            <a:r>
              <a:rPr lang="en-US" dirty="0"/>
              <a:t>ON e1.salary &gt; e2.salary;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7781489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CDCAFE5-C11B-C65E-5BDC-D0814C74422B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904014"/>
          <a:ext cx="10515600" cy="219456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42734319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62052681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5315559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Join 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Diagram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49837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INNER JOIN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🎯 (A ∩ B)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Common records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24415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LEFT JOIN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⬅️ (All A + match B)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Keep all left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66319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RIGHT JOIN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➡️ (All B + match A)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Keep all right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30178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FULL JOIN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🔄 (A ∪ B)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All records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97093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CROSS JOIN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✖️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All combinations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00084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241038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DAA04-5433-36AA-D291-2482DD590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8918" y="94961"/>
            <a:ext cx="10515600" cy="725921"/>
          </a:xfrm>
        </p:spPr>
        <p:txBody>
          <a:bodyPr/>
          <a:lstStyle/>
          <a:p>
            <a:r>
              <a:rPr lang="en-US" dirty="0"/>
              <a:t>Joins with WHERE vs 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D68C1-E097-1BD2-D587-587C254BE0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572" y="1253331"/>
            <a:ext cx="10515600" cy="5509708"/>
          </a:xfrm>
        </p:spPr>
        <p:txBody>
          <a:bodyPr>
            <a:normAutofit fontScale="92500" lnSpcReduction="20000"/>
          </a:bodyPr>
          <a:lstStyle/>
          <a:p>
            <a:r>
              <a:rPr lang="en-IN" dirty="0"/>
              <a:t>-- Using ON (preferred)</a:t>
            </a:r>
          </a:p>
          <a:p>
            <a:r>
              <a:rPr lang="en-IN" dirty="0"/>
              <a:t>SELECT * FROM employees e</a:t>
            </a:r>
          </a:p>
          <a:p>
            <a:r>
              <a:rPr lang="en-IN" dirty="0"/>
              <a:t>LEFT JOIN departments d</a:t>
            </a:r>
          </a:p>
          <a:p>
            <a:r>
              <a:rPr lang="en-IN" dirty="0"/>
              <a:t>ON </a:t>
            </a:r>
            <a:r>
              <a:rPr lang="en-IN" dirty="0" err="1"/>
              <a:t>e.dept_id</a:t>
            </a:r>
            <a:r>
              <a:rPr lang="en-IN" dirty="0"/>
              <a:t> = </a:t>
            </a:r>
            <a:r>
              <a:rPr lang="en-IN" dirty="0" err="1"/>
              <a:t>d.dept_id</a:t>
            </a:r>
            <a:r>
              <a:rPr lang="en-IN" dirty="0"/>
              <a:t> AND </a:t>
            </a:r>
            <a:r>
              <a:rPr lang="en-IN" dirty="0" err="1"/>
              <a:t>d.location</a:t>
            </a:r>
            <a:r>
              <a:rPr lang="en-IN" dirty="0"/>
              <a:t> = 'Delhi';</a:t>
            </a:r>
          </a:p>
          <a:p>
            <a:endParaRPr lang="en-IN" dirty="0"/>
          </a:p>
          <a:p>
            <a:r>
              <a:rPr lang="en-IN" dirty="0"/>
              <a:t>-- Using WHERE (filters after join)</a:t>
            </a:r>
          </a:p>
          <a:p>
            <a:r>
              <a:rPr lang="en-IN" dirty="0"/>
              <a:t>SELECT * FROM employees e</a:t>
            </a:r>
          </a:p>
          <a:p>
            <a:r>
              <a:rPr lang="en-IN" dirty="0"/>
              <a:t>LEFT JOIN departments d</a:t>
            </a:r>
          </a:p>
          <a:p>
            <a:r>
              <a:rPr lang="en-IN" dirty="0"/>
              <a:t>ON </a:t>
            </a:r>
            <a:r>
              <a:rPr lang="en-IN" dirty="0" err="1"/>
              <a:t>e.dept_id</a:t>
            </a:r>
            <a:r>
              <a:rPr lang="en-IN" dirty="0"/>
              <a:t> = </a:t>
            </a:r>
            <a:r>
              <a:rPr lang="en-IN" dirty="0" err="1"/>
              <a:t>d.dept_id</a:t>
            </a:r>
            <a:endParaRPr lang="en-IN" dirty="0"/>
          </a:p>
          <a:p>
            <a:r>
              <a:rPr lang="en-IN" dirty="0"/>
              <a:t>WHERE </a:t>
            </a:r>
            <a:r>
              <a:rPr lang="en-IN" dirty="0" err="1"/>
              <a:t>d.location</a:t>
            </a:r>
            <a:r>
              <a:rPr lang="en-IN" dirty="0"/>
              <a:t> = 'Delhi’;</a:t>
            </a:r>
          </a:p>
          <a:p>
            <a:endParaRPr lang="en-IN" dirty="0"/>
          </a:p>
          <a:p>
            <a:pPr marL="0" indent="0">
              <a:buNone/>
            </a:pPr>
            <a:r>
              <a:rPr lang="en-US" dirty="0"/>
              <a:t>💡 The first keeps unmatched employees (with NULLs),</a:t>
            </a:r>
            <a:br>
              <a:rPr lang="en-US" dirty="0"/>
            </a:br>
            <a:r>
              <a:rPr lang="en-US" dirty="0"/>
              <a:t>the second </a:t>
            </a:r>
            <a:r>
              <a:rPr lang="en-US" b="1" dirty="0"/>
              <a:t>filters them out</a:t>
            </a:r>
            <a:r>
              <a:rPr lang="en-US" dirty="0"/>
              <a:t>, acting like an INNER JOIN.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3980834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5B502-0E65-47FA-FB50-0DCBFCCD5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SUMMARY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598313D-FB7D-5867-B97E-CD1EBDF5F45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721134"/>
          <a:ext cx="10515600" cy="256032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85518962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68874162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7389265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Join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Returns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 Case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83617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INNER JOIN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Only matches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Common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31763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LEFT JOIN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All left + matches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Show all employees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8873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RIGHT JOIN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All right + matches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Show all departments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85805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FULL JOIN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All records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Merge results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88737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CROSS JOIN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All combinations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Matrix or pair analysis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81837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SELF JOIN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Join table to itself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Hierarchies, comparisons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82362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27109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518</TotalTime>
  <Words>1527</Words>
  <Application>Microsoft Office PowerPoint</Application>
  <PresentationFormat>Widescreen</PresentationFormat>
  <Paragraphs>235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2" baseType="lpstr">
      <vt:lpstr>Arial</vt:lpstr>
      <vt:lpstr>Calibri</vt:lpstr>
      <vt:lpstr>Calibri Light</vt:lpstr>
      <vt:lpstr>Office Theme</vt:lpstr>
      <vt:lpstr>MySQL</vt:lpstr>
      <vt:lpstr>🧩 What is RDBMS?</vt:lpstr>
      <vt:lpstr>PowerPoint Presentation</vt:lpstr>
      <vt:lpstr>What is SQL</vt:lpstr>
      <vt:lpstr>What is a Database?</vt:lpstr>
      <vt:lpstr>PowerPoint Presentation</vt:lpstr>
      <vt:lpstr>🧩 What is a Schema in a Database?</vt:lpstr>
      <vt:lpstr>🧱 Schema Components </vt:lpstr>
      <vt:lpstr>🗃️ Types of Schemas</vt:lpstr>
      <vt:lpstr>MySQL SQL Data Types</vt:lpstr>
      <vt:lpstr>1. Numeric Data Types</vt:lpstr>
      <vt:lpstr>2. String (Character) Data Types</vt:lpstr>
      <vt:lpstr>🕒 3. Date and Time Data Types</vt:lpstr>
      <vt:lpstr>💾 4. Spatial (Geometric) Data Types</vt:lpstr>
      <vt:lpstr>Example Table Creation in MySQL</vt:lpstr>
      <vt:lpstr>DATA MODELLING AND ERD</vt:lpstr>
      <vt:lpstr>🧠 What is Data Modelling?</vt:lpstr>
      <vt:lpstr>🧩 Levels of Data Models</vt:lpstr>
      <vt:lpstr>🏷️ What is an ERD (Entity Relationship Diagram)?</vt:lpstr>
      <vt:lpstr>📘 Key Components of ERD</vt:lpstr>
      <vt:lpstr>🔗 Types of Relationships</vt:lpstr>
      <vt:lpstr>🧭 Example ERD: School Database</vt:lpstr>
      <vt:lpstr>🧩 Relationships:</vt:lpstr>
      <vt:lpstr>🧩 Sublanguages of SQL</vt:lpstr>
      <vt:lpstr>🧠 Main SQL Sublanguages</vt:lpstr>
      <vt:lpstr>1️⃣ DDL – Data Definition Language</vt:lpstr>
      <vt:lpstr>2️⃣ DML – Data Manipulation Language</vt:lpstr>
      <vt:lpstr>3️⃣ DQL – Data Query Language</vt:lpstr>
      <vt:lpstr>4️⃣ DCL – Data Control Language</vt:lpstr>
      <vt:lpstr>5️⃣ TCL – Transaction Control Language</vt:lpstr>
      <vt:lpstr>SQL Queries</vt:lpstr>
      <vt:lpstr>💡 What Are SQL Queries?</vt:lpstr>
      <vt:lpstr>🧩 Types of SQL Queries</vt:lpstr>
      <vt:lpstr>Example: Complete Query Flow</vt:lpstr>
      <vt:lpstr>✅ f) SELF JOIN</vt:lpstr>
      <vt:lpstr>PowerPoint Presentation</vt:lpstr>
      <vt:lpstr>Joins with WHERE vs ON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Data Engineering</dc:creator>
  <cp:lastModifiedBy>Data Engineering</cp:lastModifiedBy>
  <cp:revision>7</cp:revision>
  <dcterms:created xsi:type="dcterms:W3CDTF">2025-10-18T02:06:32Z</dcterms:created>
  <dcterms:modified xsi:type="dcterms:W3CDTF">2025-10-18T10:44:35Z</dcterms:modified>
</cp:coreProperties>
</file>